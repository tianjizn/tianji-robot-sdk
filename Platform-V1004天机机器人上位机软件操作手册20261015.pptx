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3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4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5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6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7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8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9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20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21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22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23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24.xml" ContentType="application/vnd.openxmlformats-officedocument.presentationml.notesSlide+xml"/>
  <Override PartName="/ppt/tags/tag117.xml" ContentType="application/vnd.openxmlformats-officedocument.presentationml.tags+xml"/>
  <Override PartName="/ppt/notesSlides/notesSlide25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26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27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28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29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30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31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258" r:id="rId4"/>
    <p:sldId id="257" r:id="rId5"/>
    <p:sldId id="281" r:id="rId6"/>
    <p:sldId id="271" r:id="rId7"/>
    <p:sldId id="259" r:id="rId8"/>
    <p:sldId id="260" r:id="rId9"/>
    <p:sldId id="272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69" r:id="rId34"/>
    <p:sldId id="270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1890C7-2248-BCCC-74D9-89C11E3C1011}" name="liangshan fang" initials="lf" userId="a89dad1bb9b01ca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70C1"/>
    <a:srgbClr val="FFC2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/>
    <p:restoredTop sz="88613"/>
  </p:normalViewPr>
  <p:slideViewPr>
    <p:cSldViewPr snapToGrid="0" showGuides="1">
      <p:cViewPr varScale="1">
        <p:scale>
          <a:sx n="105" d="100"/>
          <a:sy n="105" d="100"/>
        </p:scale>
        <p:origin x="832" y="168"/>
      </p:cViewPr>
      <p:guideLst>
        <p:guide orient="horz" pos="1592"/>
        <p:guide pos="2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7EA7-D24D-308F-B95A-20A6F2CED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B8319C-442E-D5C4-5CEC-145F1F82C6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015B38-1086-4442-370F-5487D021EA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0246E9-7D5D-5291-28F4-CD49375DC5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5B6C6C-0CA5-C696-6488-7B0E53A38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249AF-EF07-B928-3B04-7A1AEB689D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CDD36-373B-8413-73E2-47D03284E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32618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0A15-D84F-14F1-8D2D-E8D04BA4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A83F81-EFE4-AB45-562F-4CF1DA2B66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2C4AE-2FC6-2D27-8998-9D7A98DAF0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EC6F997-8AF3-8E63-4F23-E2A5411EF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66F09AB-66B5-1669-47D6-CB50AC34C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2BF5B-7F17-EA5C-6F80-48EA36E8E2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F4F57-AAC1-085E-870E-5EDA29BFD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26626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3F35-E559-0F44-C168-E1EF27E64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071824-67D6-D94B-EFA5-0742ECE945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D6247-4571-3783-2057-A103F96EE83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4EAA402-8B10-C23B-A422-D3DCAEF75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5D279BA-25B1-2050-E01E-D319FF6A1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BD0B3-90F4-1B43-73EB-5CBFF7AC53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ABD72-76CE-42B0-E723-9A1B6A090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87028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090F-3F98-03D1-6373-38E3C6472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AE153A-7F8E-1BDE-BD88-ABB2E62221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350A4-E888-3F85-1E0C-06DB7AFC63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EC40BCE-CC35-89B1-3F4C-7EA1DB6C5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ADB1EAB-ED6B-8DF5-28A6-37F75435CE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56059-C5FD-9547-52D4-506832F11B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49559-D8FC-ABAB-871A-7F19DB41F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3014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69D8-552C-9016-87A5-734099ED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AA075C-B625-FC27-23C6-A4A3E1B3B9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102E6-95E2-79BF-2259-5C582A0B987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7E5D173-ADCB-E03D-9A2B-94DF1CA32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319A9B-58C0-CC7E-F059-2B62F0C09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36B39-B7F8-6289-708E-6F8B6D0569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B9551-E043-4CF3-A1E5-C00EE1F40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14851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0D722-BCA7-7066-0CA5-BE05F853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6F05A1-6B0E-104E-B407-5E78023AC4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79B386-9A36-CAE7-71E2-DE00583F7F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C10456-7514-5989-5A3A-E11FDDE77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616CEB-DBDB-0D2A-F970-EB718CD65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73EA5-0772-0990-0E82-82746222AB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F8A90-24FC-4176-A329-B5331F551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5440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9AE1-882A-13B3-2654-7AE8555E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A7C594-2511-A5A6-03BE-5AA498172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C60DB-3C11-4A04-305E-F43A8AFC26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DAE7A2-A3CC-F599-AC18-29FF35301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A353BD9-7746-B585-6368-4E941479E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43918-E009-A091-6B55-DA8A10B33A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9898F-B11F-7DC8-73FF-74BEAD706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0994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0FCA-BA72-A256-89BA-F712E31F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99B01B-EAC3-8F1A-3635-DF355E83D5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C19F7-8DE1-0219-9260-F0B0F98D2D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6D8FDF-83E4-B4A1-3CEE-481A47F41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3EBE02A-B514-4148-AE3A-1589BFF21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47B40-19D4-7E58-4203-4E88831D05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5DC6-128E-8C2B-131A-FE2E9D85B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064589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829D-8BEA-B7F2-AB3B-73DA9692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1A2B9C-2EFC-6AA0-3E1F-C65713FB0E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4B4CE-2EE6-4FDD-0DA0-26BEF0FDB6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75856C-AB33-BEF1-6331-AFA43AE5B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A90283-6289-7C7D-DB80-FF28CCF7B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D45BB-6BD5-0BE4-A488-C710ECDD1D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91C26-996A-896C-8BAF-95042EBC1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897408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ECFEF-03EB-A024-0812-EE3808AC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611CA7-8DD4-256B-7D9E-939953624B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26BAB-1700-82E5-0909-FBB87E6184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710273C-5C05-D8F8-C776-A96E337C0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2E15075-F689-1F7D-F45E-A00BCFF1CC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12A72-DCBB-9C15-C8F3-411F3B2893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11237-8926-A7F9-A9DC-5FDCA0BBC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754149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5A2F-81B5-3BD5-90D2-B3988680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A7ADDD-CE11-F8B4-A196-70BB1AAE95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73DE3-562B-5FAD-B6AA-E3851B79C9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8F0DFD9-0A97-33D3-9936-AD27D0571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FAD45B-BA39-6DE3-4018-ECB4E8EA6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316F5-82D8-9877-5928-C70FF7C253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719F-A69D-0336-0E3A-8FF59588C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017033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02598-B613-C0D6-90C4-052C7967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A5101C-549F-61A3-6F36-10980B6D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704AB-857A-B248-87E4-0F4FCCA8F10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572857A-EBF4-C0AF-10C0-05EEA98E2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9C47AA3-7C20-E9F6-C93A-95D681481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56AD8-0070-E642-D0D0-258DA63A9C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1FA32-7379-906A-D84C-838E67BF7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70614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E1D7-264C-1A08-7AFC-FEC0315A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3DE73C-B0D6-F43F-BD64-DF1795613D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00BB10-B420-B32F-69BA-7BAFAF565AF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A28689C-EEDE-EB9F-14AE-BD7AEBEDF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FFE7E53-BA15-E64C-4D24-F2E8919A8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8694A-DCD7-736C-58C4-70213B1739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5B364-3CBF-98B5-2A12-4DEB82D20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268072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CB56D-72F9-8EFD-E0DE-AE1175CF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2BDB0-01B0-0EE2-8546-FB5B4B937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8A700-4DB8-7DBE-4C5C-26D01968581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E36B07B-8425-6412-74CB-6351AE66A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988F57-409F-C170-D756-AB8E8A357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EB04C-EF5D-B804-39B1-7E5E929F08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7097E-E965-3E2F-7ABB-0064AF3B5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413268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74F95-4CEE-8B8B-CC34-81CE1671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87C2C4-5C3A-E202-E406-AC05C38F4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27A7F7-6CF4-06C2-20FD-4C6794A6A9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5F6DD2C-2944-879E-03B0-A17A585A1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C103DCF-A4C1-1BC5-1199-80C612520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AE00B-E008-7FB8-29F7-1D8767C768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B86A5-54DE-1BBD-B68F-ED343C438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434717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86015-7220-F7D8-A636-23E0341B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E60E8C-5172-6191-0C2C-545FAA603E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72832-87C5-2E9F-F468-3806CF1AF4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92B75C6-010A-0294-613A-A54ACEC5E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5803648-9327-253A-C086-03C3E5AF1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8D204-F3E2-B53C-7AD4-3115CC8578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E779-243D-25AA-3FAA-B5D329BA7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069030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E5821-08DC-EFCE-171B-D5897284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509AEE-76C2-CAF5-BE86-43F4E12916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CFC70-FCD1-BAC6-4023-DFEC6A154F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4C71528-70F7-6471-84F1-A992D117D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9BF1C16-B34A-43FE-B2CF-C274AB207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3C058-7DF8-16AB-23E1-80417D1306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529F6-B990-63C4-724D-31DF7F5CD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040722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CA93C-58B0-2295-5C33-CB997521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872C83-FEC7-BEC8-6913-8C5FD87392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F0E48-A3F6-2B50-CCF7-B47DC4FD93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C62920C-2AB9-643D-06B5-F3FEDBDC0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6C43F5-CBE0-A33B-F5C0-9A4C7319A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F9C02-BFBF-4871-1D38-F73BA6B689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6489F-2850-F9CD-B4F4-C6C03217D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565002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hyperlink" Target="https://github.com/tianjizn/tianji-robot-SDK/" TargetMode="External"/><Relationship Id="rId5" Type="http://schemas.openxmlformats.org/officeDocument/2006/relationships/tags" Target="../tags/tag7.xml"/><Relationship Id="rId10" Type="http://schemas.openxmlformats.org/officeDocument/2006/relationships/image" Target="../media/image3.jpeg"/><Relationship Id="rId4" Type="http://schemas.openxmlformats.org/officeDocument/2006/relationships/tags" Target="../tags/tag6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5.sv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4.png"/><Relationship Id="rId2" Type="http://schemas.openxmlformats.org/officeDocument/2006/relationships/tags" Target="../tags/tag11.xml"/><Relationship Id="rId16" Type="http://schemas.openxmlformats.org/officeDocument/2006/relationships/image" Target="../media/image8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3.jpeg"/><Relationship Id="rId5" Type="http://schemas.openxmlformats.org/officeDocument/2006/relationships/tags" Target="../tags/tag14.xml"/><Relationship Id="rId15" Type="http://schemas.openxmlformats.org/officeDocument/2006/relationships/image" Target="../media/image7.svg"/><Relationship Id="rId10" Type="http://schemas.openxmlformats.org/officeDocument/2006/relationships/notesSlide" Target="../notesSlides/notesSlide5.xml"/><Relationship Id="rId4" Type="http://schemas.openxmlformats.org/officeDocument/2006/relationships/tags" Target="../tags/tag13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16.png"/><Relationship Id="rId3" Type="http://schemas.openxmlformats.org/officeDocument/2006/relationships/tags" Target="../tags/tag20.xml"/><Relationship Id="rId21" Type="http://schemas.openxmlformats.org/officeDocument/2006/relationships/image" Target="../media/image19.svg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image" Target="../media/image15.svg"/><Relationship Id="rId2" Type="http://schemas.openxmlformats.org/officeDocument/2006/relationships/tags" Target="../tags/tag19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3.jpeg"/><Relationship Id="rId10" Type="http://schemas.openxmlformats.org/officeDocument/2006/relationships/tags" Target="../tags/tag27.xml"/><Relationship Id="rId19" Type="http://schemas.openxmlformats.org/officeDocument/2006/relationships/image" Target="../media/image17.sv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notesSlide" Target="../notesSlides/notesSlide9.xml"/><Relationship Id="rId22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3.jpeg"/><Relationship Id="rId17" Type="http://schemas.openxmlformats.org/officeDocument/2006/relationships/image" Target="../media/image25.png"/><Relationship Id="rId2" Type="http://schemas.openxmlformats.org/officeDocument/2006/relationships/tags" Target="../tags/tag31.xml"/><Relationship Id="rId16" Type="http://schemas.openxmlformats.org/officeDocument/2006/relationships/image" Target="../media/image24.sv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34.xml"/><Relationship Id="rId15" Type="http://schemas.openxmlformats.org/officeDocument/2006/relationships/image" Target="../media/image23.pn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27.png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10.svg"/><Relationship Id="rId4" Type="http://schemas.openxmlformats.org/officeDocument/2006/relationships/image" Target="../media/image28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33.png"/><Relationship Id="rId18" Type="http://schemas.openxmlformats.org/officeDocument/2006/relationships/image" Target="../media/image36.sv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image" Target="../media/image3.jpeg"/><Relationship Id="rId17" Type="http://schemas.openxmlformats.org/officeDocument/2006/relationships/image" Target="../media/image35.png"/><Relationship Id="rId2" Type="http://schemas.openxmlformats.org/officeDocument/2006/relationships/tags" Target="../tags/tag40.xml"/><Relationship Id="rId16" Type="http://schemas.openxmlformats.org/officeDocument/2006/relationships/image" Target="../media/image22.svg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notesSlide" Target="../notesSlides/notesSlide12.xml"/><Relationship Id="rId5" Type="http://schemas.openxmlformats.org/officeDocument/2006/relationships/tags" Target="../tags/tag43.xml"/><Relationship Id="rId15" Type="http://schemas.openxmlformats.org/officeDocument/2006/relationships/image" Target="../media/image21.pn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37.png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../media/image3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38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image" Target="../media/image42.svg"/><Relationship Id="rId3" Type="http://schemas.openxmlformats.org/officeDocument/2006/relationships/tags" Target="../tags/tag5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1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image" Target="../media/image40.svg"/><Relationship Id="rId5" Type="http://schemas.openxmlformats.org/officeDocument/2006/relationships/tags" Target="../tags/tag54.xml"/><Relationship Id="rId10" Type="http://schemas.openxmlformats.org/officeDocument/2006/relationships/image" Target="../media/image39.png"/><Relationship Id="rId4" Type="http://schemas.openxmlformats.org/officeDocument/2006/relationships/tags" Target="../tags/tag53.xml"/><Relationship Id="rId9" Type="http://schemas.openxmlformats.org/officeDocument/2006/relationships/image" Target="../media/image3.jpeg"/><Relationship Id="rId1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image" Target="../media/image3.jpeg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notesSlide" Target="../notesSlides/notesSlide15.xml"/><Relationship Id="rId2" Type="http://schemas.openxmlformats.org/officeDocument/2006/relationships/tags" Target="../tags/tag57.xml"/><Relationship Id="rId16" Type="http://schemas.openxmlformats.org/officeDocument/2006/relationships/image" Target="../media/image46.png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slideLayout" Target="../slideLayouts/slideLayout12.xml"/><Relationship Id="rId5" Type="http://schemas.openxmlformats.org/officeDocument/2006/relationships/tags" Target="../tags/tag60.xml"/><Relationship Id="rId15" Type="http://schemas.openxmlformats.org/officeDocument/2006/relationships/image" Target="../media/image45.svg"/><Relationship Id="rId10" Type="http://schemas.openxmlformats.org/officeDocument/2006/relationships/tags" Target="../tags/tag65.xml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78.xml"/><Relationship Id="rId18" Type="http://schemas.openxmlformats.org/officeDocument/2006/relationships/tags" Target="../tags/tag83.xml"/><Relationship Id="rId26" Type="http://schemas.openxmlformats.org/officeDocument/2006/relationships/tags" Target="../tags/tag91.xml"/><Relationship Id="rId39" Type="http://schemas.openxmlformats.org/officeDocument/2006/relationships/image" Target="../media/image31.png"/><Relationship Id="rId21" Type="http://schemas.openxmlformats.org/officeDocument/2006/relationships/tags" Target="../tags/tag86.xml"/><Relationship Id="rId34" Type="http://schemas.openxmlformats.org/officeDocument/2006/relationships/image" Target="../media/image50.svg"/><Relationship Id="rId42" Type="http://schemas.openxmlformats.org/officeDocument/2006/relationships/image" Target="../media/image56.svg"/><Relationship Id="rId7" Type="http://schemas.openxmlformats.org/officeDocument/2006/relationships/tags" Target="../tags/tag72.xml"/><Relationship Id="rId2" Type="http://schemas.openxmlformats.org/officeDocument/2006/relationships/tags" Target="../tags/tag67.xml"/><Relationship Id="rId16" Type="http://schemas.openxmlformats.org/officeDocument/2006/relationships/tags" Target="../tags/tag81.xml"/><Relationship Id="rId29" Type="http://schemas.openxmlformats.org/officeDocument/2006/relationships/notesSlide" Target="../notesSlides/notesSlide16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24" Type="http://schemas.openxmlformats.org/officeDocument/2006/relationships/tags" Target="../tags/tag89.xml"/><Relationship Id="rId32" Type="http://schemas.openxmlformats.org/officeDocument/2006/relationships/image" Target="../media/image48.svg"/><Relationship Id="rId37" Type="http://schemas.openxmlformats.org/officeDocument/2006/relationships/image" Target="../media/image53.png"/><Relationship Id="rId40" Type="http://schemas.openxmlformats.org/officeDocument/2006/relationships/image" Target="../media/image32.svg"/><Relationship Id="rId45" Type="http://schemas.openxmlformats.org/officeDocument/2006/relationships/image" Target="../media/image59.png"/><Relationship Id="rId5" Type="http://schemas.openxmlformats.org/officeDocument/2006/relationships/tags" Target="../tags/tag70.xml"/><Relationship Id="rId15" Type="http://schemas.openxmlformats.org/officeDocument/2006/relationships/tags" Target="../tags/tag80.xml"/><Relationship Id="rId23" Type="http://schemas.openxmlformats.org/officeDocument/2006/relationships/tags" Target="../tags/tag88.xml"/><Relationship Id="rId28" Type="http://schemas.openxmlformats.org/officeDocument/2006/relationships/slideLayout" Target="../slideLayouts/slideLayout12.xml"/><Relationship Id="rId36" Type="http://schemas.openxmlformats.org/officeDocument/2006/relationships/image" Target="../media/image52.svg"/><Relationship Id="rId10" Type="http://schemas.openxmlformats.org/officeDocument/2006/relationships/tags" Target="../tags/tag75.xml"/><Relationship Id="rId19" Type="http://schemas.openxmlformats.org/officeDocument/2006/relationships/tags" Target="../tags/tag84.xml"/><Relationship Id="rId31" Type="http://schemas.openxmlformats.org/officeDocument/2006/relationships/image" Target="../media/image47.png"/><Relationship Id="rId44" Type="http://schemas.openxmlformats.org/officeDocument/2006/relationships/image" Target="../media/image58.svg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Relationship Id="rId22" Type="http://schemas.openxmlformats.org/officeDocument/2006/relationships/tags" Target="../tags/tag87.xml"/><Relationship Id="rId27" Type="http://schemas.openxmlformats.org/officeDocument/2006/relationships/tags" Target="../tags/tag92.xml"/><Relationship Id="rId30" Type="http://schemas.openxmlformats.org/officeDocument/2006/relationships/image" Target="../media/image3.jpeg"/><Relationship Id="rId35" Type="http://schemas.openxmlformats.org/officeDocument/2006/relationships/image" Target="../media/image51.png"/><Relationship Id="rId43" Type="http://schemas.openxmlformats.org/officeDocument/2006/relationships/image" Target="../media/image57.png"/><Relationship Id="rId8" Type="http://schemas.openxmlformats.org/officeDocument/2006/relationships/tags" Target="../tags/tag73.xml"/><Relationship Id="rId3" Type="http://schemas.openxmlformats.org/officeDocument/2006/relationships/tags" Target="../tags/tag68.xml"/><Relationship Id="rId12" Type="http://schemas.openxmlformats.org/officeDocument/2006/relationships/tags" Target="../tags/tag77.xml"/><Relationship Id="rId17" Type="http://schemas.openxmlformats.org/officeDocument/2006/relationships/tags" Target="../tags/tag82.xml"/><Relationship Id="rId25" Type="http://schemas.openxmlformats.org/officeDocument/2006/relationships/tags" Target="../tags/tag90.xml"/><Relationship Id="rId33" Type="http://schemas.openxmlformats.org/officeDocument/2006/relationships/image" Target="../media/image49.png"/><Relationship Id="rId38" Type="http://schemas.openxmlformats.org/officeDocument/2006/relationships/image" Target="../media/image54.svg"/><Relationship Id="rId46" Type="http://schemas.openxmlformats.org/officeDocument/2006/relationships/image" Target="../media/image60.svg"/><Relationship Id="rId20" Type="http://schemas.openxmlformats.org/officeDocument/2006/relationships/tags" Target="../tags/tag85.xml"/><Relationship Id="rId41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61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image" Target="../media/image62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3" Type="http://schemas.openxmlformats.org/officeDocument/2006/relationships/tags" Target="../tags/tag99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10" Type="http://schemas.openxmlformats.org/officeDocument/2006/relationships/image" Target="../media/image63.png"/><Relationship Id="rId4" Type="http://schemas.openxmlformats.org/officeDocument/2006/relationships/tags" Target="../tags/tag100.xml"/><Relationship Id="rId9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tags" Target="../tags/tag105.xml"/><Relationship Id="rId7" Type="http://schemas.openxmlformats.org/officeDocument/2006/relationships/image" Target="../media/image3.jpe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0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image" Target="../media/image6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6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7" Type="http://schemas.openxmlformats.org/officeDocument/2006/relationships/image" Target="../media/image65.png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image" Target="../media/image3.jpeg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65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3.jpe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7.xml"/><Relationship Id="rId5" Type="http://schemas.openxmlformats.org/officeDocument/2006/relationships/image" Target="../media/image66.png"/><Relationship Id="rId4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67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image" Target="../media/image68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image" Target="../media/image69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7" Type="http://schemas.openxmlformats.org/officeDocument/2006/relationships/image" Target="../media/image70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3.jpeg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7" Type="http://schemas.openxmlformats.org/officeDocument/2006/relationships/image" Target="../media/image71.png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3.jpeg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132.xml"/><Relationship Id="rId7" Type="http://schemas.openxmlformats.org/officeDocument/2006/relationships/notesSlide" Target="../notesSlides/notesSlide31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9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tags" Target="../tags/tag147.xml"/><Relationship Id="rId18" Type="http://schemas.openxmlformats.org/officeDocument/2006/relationships/image" Target="../media/image3.jpeg"/><Relationship Id="rId26" Type="http://schemas.openxmlformats.org/officeDocument/2006/relationships/image" Target="../media/image80.png"/><Relationship Id="rId3" Type="http://schemas.openxmlformats.org/officeDocument/2006/relationships/tags" Target="../tags/tag137.xml"/><Relationship Id="rId21" Type="http://schemas.openxmlformats.org/officeDocument/2006/relationships/image" Target="../media/image75.svg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notesSlide" Target="../notesSlides/notesSlide32.xml"/><Relationship Id="rId25" Type="http://schemas.openxmlformats.org/officeDocument/2006/relationships/image" Target="../media/image79.svg"/><Relationship Id="rId2" Type="http://schemas.openxmlformats.org/officeDocument/2006/relationships/tags" Target="../tags/tag136.xml"/><Relationship Id="rId16" Type="http://schemas.openxmlformats.org/officeDocument/2006/relationships/slideLayout" Target="../slideLayouts/slideLayout12.xml"/><Relationship Id="rId20" Type="http://schemas.openxmlformats.org/officeDocument/2006/relationships/image" Target="../media/image74.png"/><Relationship Id="rId29" Type="http://schemas.openxmlformats.org/officeDocument/2006/relationships/image" Target="../media/image83.svg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24" Type="http://schemas.openxmlformats.org/officeDocument/2006/relationships/image" Target="../media/image78.png"/><Relationship Id="rId5" Type="http://schemas.openxmlformats.org/officeDocument/2006/relationships/tags" Target="../tags/tag139.xml"/><Relationship Id="rId15" Type="http://schemas.openxmlformats.org/officeDocument/2006/relationships/tags" Target="../tags/tag149.xml"/><Relationship Id="rId23" Type="http://schemas.openxmlformats.org/officeDocument/2006/relationships/image" Target="../media/image77.svg"/><Relationship Id="rId28" Type="http://schemas.openxmlformats.org/officeDocument/2006/relationships/image" Target="../media/image82.png"/><Relationship Id="rId10" Type="http://schemas.openxmlformats.org/officeDocument/2006/relationships/tags" Target="../tags/tag144.xml"/><Relationship Id="rId19" Type="http://schemas.openxmlformats.org/officeDocument/2006/relationships/image" Target="../media/image73.jpeg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tags" Target="../tags/tag148.xml"/><Relationship Id="rId22" Type="http://schemas.openxmlformats.org/officeDocument/2006/relationships/image" Target="../media/image76.png"/><Relationship Id="rId27" Type="http://schemas.openxmlformats.org/officeDocument/2006/relationships/image" Target="../media/image81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svg"/><Relationship Id="rId3" Type="http://schemas.openxmlformats.org/officeDocument/2006/relationships/image" Target="../media/image3.jpeg"/><Relationship Id="rId7" Type="http://schemas.openxmlformats.org/officeDocument/2006/relationships/image" Target="../media/image87.sv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png"/><Relationship Id="rId11" Type="http://schemas.openxmlformats.org/officeDocument/2006/relationships/image" Target="../media/image91.svg"/><Relationship Id="rId5" Type="http://schemas.openxmlformats.org/officeDocument/2006/relationships/image" Target="../media/image85.svg"/><Relationship Id="rId15" Type="http://schemas.openxmlformats.org/officeDocument/2006/relationships/image" Target="../media/image95.sv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svg"/><Relationship Id="rId14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  <a:alpha val="6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Platform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565401"/>
            <a:ext cx="762000" cy="762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5400" dirty="0">
                <a:solidFill>
                  <a:srgbClr val="DEEAF1"/>
                </a:solidFill>
                <a:latin typeface="+mj-ea"/>
              </a:rPr>
              <a:t>软件产品使用说明书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6049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sz="1800" dirty="0">
                <a:solidFill>
                  <a:schemeClr val="bg1"/>
                </a:solidFill>
                <a:latin typeface="STHeiti Light"/>
              </a:rPr>
              <a:t>基础操作与上手使用</a:t>
            </a:r>
          </a:p>
        </p:txBody>
      </p:sp>
      <p:pic>
        <p:nvPicPr>
          <p:cNvPr id="7" name="Picture 46" descr="卡通画&#10;&#10;AI 生成的内容可能不正确。">
            <a:extLst>
              <a:ext uri="{FF2B5EF4-FFF2-40B4-BE49-F238E27FC236}">
                <a16:creationId xmlns:a16="http://schemas.microsoft.com/office/drawing/2014/main" id="{7693EDAB-A20F-EFD2-3743-F283BC81260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16000" y="1473517"/>
            <a:ext cx="2551405" cy="685483"/>
          </a:xfrm>
          <a:prstGeom prst="rect">
            <a:avLst/>
          </a:prstGeom>
          <a:noFill/>
        </p:spPr>
      </p:pic>
      <p:sp>
        <p:nvSpPr>
          <p:cNvPr id="9" name="AutoShape 6">
            <a:extLst>
              <a:ext uri="{FF2B5EF4-FFF2-40B4-BE49-F238E27FC236}">
                <a16:creationId xmlns:a16="http://schemas.microsoft.com/office/drawing/2014/main" id="{9FD779A4-C5AD-A8D1-FD83-9AC182E1E632}"/>
              </a:ext>
            </a:extLst>
          </p:cNvPr>
          <p:cNvSpPr/>
          <p:nvPr/>
        </p:nvSpPr>
        <p:spPr>
          <a:xfrm>
            <a:off x="1016000" y="6096000"/>
            <a:ext cx="6049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STHeiti Light"/>
              </a:rPr>
              <a:t>版本：基于</a:t>
            </a:r>
            <a:r>
              <a:rPr lang="en" altLang="zh-CN" sz="1600" dirty="0">
                <a:solidFill>
                  <a:schemeClr val="bg1">
                    <a:lumMod val="75000"/>
                  </a:schemeClr>
                </a:solidFill>
                <a:latin typeface="STHeiti Light"/>
              </a:rPr>
              <a:t>SDK1004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STHeiti Light"/>
              </a:rPr>
              <a:t>，更新至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STHeiti Light"/>
              </a:rPr>
              <a:t>0701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STHeiti Light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44E8B93-9707-0257-D833-DC552F1C9EB8}"/>
              </a:ext>
            </a:extLst>
          </p:cNvPr>
          <p:cNvSpPr/>
          <p:nvPr/>
        </p:nvSpPr>
        <p:spPr>
          <a:xfrm>
            <a:off x="5126182" y="6096000"/>
            <a:ext cx="6049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r"/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STHeiti Light"/>
              </a:rPr>
              <a:t>2026/10/15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STHeit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7469842-877E-2497-60F9-BF1DC5CA9AD9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53D0CC6-95F6-5F50-3DFB-5C9C6B43C8DB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" name="AutoShape 3"/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sz="3200" b="1" dirty="0" err="1">
                  <a:solidFill>
                    <a:schemeClr val="bg1"/>
                  </a:solidFill>
                </a:rPr>
                <a:t>更新说明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19723" y="1064417"/>
            <a:ext cx="10922000" cy="5459951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8" name="AutoShape 7">
            <a:extLst>
              <a:ext uri="{FF2B5EF4-FFF2-40B4-BE49-F238E27FC236}">
                <a16:creationId xmlns:a16="http://schemas.microsoft.com/office/drawing/2014/main" id="{8A948BAE-2DC1-1E82-9761-79A03FD4116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73723" y="5559865"/>
            <a:ext cx="10163908" cy="805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50000"/>
              </a:lnSpc>
              <a:defRPr/>
            </a:pPr>
            <a:endParaRPr lang="zh-CN" altLang="en-US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636E997-7DE5-F546-0906-6B1B07D09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179981"/>
              </p:ext>
            </p:extLst>
          </p:nvPr>
        </p:nvGraphicFramePr>
        <p:xfrm>
          <a:off x="734171" y="1413337"/>
          <a:ext cx="10469658" cy="362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829">
                  <a:extLst>
                    <a:ext uri="{9D8B030D-6E8A-4147-A177-3AD203B41FA5}">
                      <a16:colId xmlns:a16="http://schemas.microsoft.com/office/drawing/2014/main" val="1020813639"/>
                    </a:ext>
                  </a:extLst>
                </a:gridCol>
                <a:gridCol w="5234829">
                  <a:extLst>
                    <a:ext uri="{9D8B030D-6E8A-4147-A177-3AD203B41FA5}">
                      <a16:colId xmlns:a16="http://schemas.microsoft.com/office/drawing/2014/main" val="3453246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版本号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更新说明（请查看第</a:t>
                      </a:r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目录的操作说明）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205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040701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、支持</a:t>
                      </a:r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MarvinPro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机型</a:t>
                      </a:r>
                      <a:endParaRPr lang="en-US" altLang="zh-CN" sz="1400" dirty="0">
                        <a:solidFill>
                          <a:schemeClr val="tx1"/>
                        </a:solidFill>
                        <a:ea typeface="Noto Sans SC" panose="020B0200000000000000" charset="-122"/>
                        <a:sym typeface="Noto Sans SC" panose="020B0200000000000000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、首页新增用户反馈采集通道和日志</a:t>
                      </a:r>
                      <a:endParaRPr lang="en-US" altLang="zh-CN" sz="1400" dirty="0">
                        <a:solidFill>
                          <a:schemeClr val="tx1"/>
                        </a:solidFill>
                        <a:ea typeface="Noto Sans SC" panose="020B0200000000000000" charset="-122"/>
                        <a:sym typeface="Noto Sans SC" panose="020B0200000000000000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、新增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JOG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点动功能</a:t>
                      </a:r>
                      <a:endParaRPr lang="en-US" altLang="zh-CN" sz="1400" dirty="0">
                        <a:solidFill>
                          <a:schemeClr val="tx1"/>
                        </a:solidFill>
                        <a:ea typeface="Noto Sans SC" panose="020B0200000000000000" charset="-122"/>
                        <a:sym typeface="Noto Sans SC" panose="020B0200000000000000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、支持末端双向收发报文</a:t>
                      </a:r>
                      <a:endParaRPr lang="en-US" altLang="zh-CN" sz="1400" dirty="0">
                        <a:solidFill>
                          <a:schemeClr val="tx1"/>
                        </a:solidFill>
                        <a:ea typeface="Noto Sans SC" panose="020B0200000000000000" charset="-122"/>
                        <a:sym typeface="Noto Sans SC" panose="020B0200000000000000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5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、支持双臂末端负载辨识</a:t>
                      </a:r>
                      <a:endParaRPr lang="en-US" altLang="zh-CN" sz="1400" dirty="0">
                        <a:solidFill>
                          <a:schemeClr val="tx1"/>
                        </a:solidFill>
                        <a:ea typeface="Noto Sans SC" panose="020B0200000000000000" charset="-122"/>
                        <a:sym typeface="Noto Sans SC" panose="020B0200000000000000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、支持末端动力学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&amp;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运动学参数配置</a:t>
                      </a:r>
                      <a:endParaRPr lang="en-US" altLang="zh-CN" sz="1400" dirty="0">
                        <a:solidFill>
                          <a:schemeClr val="tx1"/>
                        </a:solidFill>
                        <a:ea typeface="Noto Sans SC" panose="020B0200000000000000" charset="-122"/>
                        <a:sym typeface="Noto Sans SC" panose="020B0200000000000000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IMU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和浮基监测</a:t>
                      </a:r>
                      <a:endParaRPr lang="en-US" altLang="zh-CN" sz="1400" dirty="0">
                        <a:solidFill>
                          <a:schemeClr val="tx1"/>
                        </a:solidFill>
                        <a:ea typeface="Noto Sans SC" panose="020B0200000000000000" charset="-122"/>
                        <a:sym typeface="Noto Sans SC" panose="020B0200000000000000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8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</a:t>
                      </a:r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EtherCAT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SDO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读写</a:t>
                      </a:r>
                      <a:endParaRPr lang="en-US" altLang="zh-CN" sz="1400" dirty="0">
                        <a:solidFill>
                          <a:schemeClr val="tx1"/>
                        </a:solidFill>
                        <a:ea typeface="Noto Sans SC" panose="020B0200000000000000" charset="-122"/>
                        <a:sym typeface="Noto Sans SC" panose="020B0200000000000000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9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、支持读写机器人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SN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码、修改机器人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IP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、同步系统时间、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ea typeface="Noto Sans SC" panose="020B0200000000000000" charset="-122"/>
                          <a:sym typeface="Noto Sans SC" panose="020B0200000000000000" charset="-122"/>
                        </a:rPr>
                        <a:t>系统重启</a:t>
                      </a:r>
                      <a:endParaRPr lang="zh-CN" altLang="en-US" sz="1400" dirty="0">
                        <a:solidFill>
                          <a:schemeClr val="tx1"/>
                        </a:solidFill>
                        <a:ea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7193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2813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35500" y="1905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18500" y="1905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4572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1905000" y="2039543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调试准备</a:t>
            </a:r>
            <a:endParaRPr kumimoji="1" lang="zh-CN" altLang="en-US" sz="18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1905000" y="2538307"/>
            <a:ext cx="203200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与安装运行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连接机器人与排查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5588000" y="2039543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 sz="1800" b="1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界面功能概览</a:t>
            </a:r>
            <a:endParaRPr kumimoji="1" lang="zh-CN" altLang="en-US" sz="1800" dirty="0"/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5588000" y="2538307"/>
            <a:ext cx="2032000" cy="890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左侧状态栏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参数设置栏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状态转化模式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9271000" y="2039543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 sz="1800" b="1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核心操作模块</a:t>
            </a:r>
            <a:endParaRPr kumimoji="1" lang="zh-CN" altLang="en-US" sz="1800" dirty="0"/>
          </a:p>
        </p:txBody>
      </p:sp>
      <p:sp>
        <p:nvSpPr>
          <p:cNvPr id="24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9271000" y="2538307"/>
            <a:ext cx="2032000" cy="890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错误处理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实时数据显示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关节角度命令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1905000" y="4701555"/>
            <a:ext cx="165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zh-CN" altLang="en-US" sz="1800" b="1" dirty="0">
                <a:solidFill>
                  <a:srgbClr val="343A40"/>
                </a:solidFill>
                <a:ea typeface="Noto Sans SC" panose="020B0200000000000000" charset="-122"/>
                <a:sym typeface="Noto Sans SC" panose="020B0200000000000000" charset="-122"/>
              </a:rPr>
              <a:t>工具操作区</a:t>
            </a:r>
            <a:endParaRPr kumimoji="1" lang="zh-CN" altLang="en-US" sz="1800" dirty="0"/>
          </a:p>
        </p:txBody>
      </p:sp>
      <p:sp>
        <p:nvSpPr>
          <p:cNvPr id="26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1905000" y="5200319"/>
            <a:ext cx="1651000" cy="890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数据显示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软急停操作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更多功能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128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318500" y="4572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文本框 18">
            <a:extLst>
              <a:ext uri="{FF2B5EF4-FFF2-40B4-BE49-F238E27FC236}">
                <a16:creationId xmlns:a16="http://schemas.microsoft.com/office/drawing/2014/main" id="{23379439-FD75-14D6-69BB-2E00FF5E8F18}"/>
              </a:ext>
            </a:extLst>
          </p:cNvPr>
          <p:cNvSpPr txBox="1"/>
          <p:nvPr/>
        </p:nvSpPr>
        <p:spPr>
          <a:xfrm>
            <a:off x="9271000" y="4701555"/>
            <a:ext cx="165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zh-CN" altLang="en-US" sz="1800" b="1" dirty="0">
                <a:solidFill>
                  <a:srgbClr val="343A40"/>
                </a:solidFill>
                <a:ea typeface="Noto Sans SC" panose="020B0200000000000000" charset="-122"/>
                <a:sym typeface="Noto Sans SC" panose="020B0200000000000000" charset="-122"/>
              </a:rPr>
              <a:t>安全与支持</a:t>
            </a:r>
            <a:endParaRPr kumimoji="1" lang="zh-CN" altLang="en-US" sz="1800" dirty="0"/>
          </a:p>
        </p:txBody>
      </p:sp>
      <p:sp>
        <p:nvSpPr>
          <p:cNvPr id="28" name="文本框 19">
            <a:extLst>
              <a:ext uri="{FF2B5EF4-FFF2-40B4-BE49-F238E27FC236}">
                <a16:creationId xmlns:a16="http://schemas.microsoft.com/office/drawing/2014/main" id="{35E3160E-BF01-8D71-79FD-639ED204DA28}"/>
              </a:ext>
            </a:extLst>
          </p:cNvPr>
          <p:cNvSpPr txBox="1"/>
          <p:nvPr/>
        </p:nvSpPr>
        <p:spPr>
          <a:xfrm>
            <a:off x="9271000" y="5200319"/>
            <a:ext cx="165100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安全操作注意事项</a:t>
            </a:r>
            <a:endParaRPr lang="en-US" altLang="zh-CN" sz="1200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技术支持信息指引</a:t>
            </a:r>
            <a:endParaRPr lang="en-US" altLang="zh-CN" sz="1200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00B00ED-CF60-CD53-7362-966009A27BF9}"/>
              </a:ext>
            </a:extLst>
          </p:cNvPr>
          <p:cNvGrpSpPr/>
          <p:nvPr/>
        </p:nvGrpSpPr>
        <p:grpSpPr>
          <a:xfrm>
            <a:off x="4445000" y="4191000"/>
            <a:ext cx="3302000" cy="2159000"/>
            <a:chOff x="8129105" y="4191000"/>
            <a:chExt cx="3302000" cy="2159000"/>
          </a:xfrm>
        </p:grpSpPr>
        <p:sp>
          <p:nvSpPr>
            <p:cNvPr id="6" name="AutoShape 16">
              <a:extLst>
                <a:ext uri="{FF2B5EF4-FFF2-40B4-BE49-F238E27FC236}">
                  <a16:creationId xmlns:a16="http://schemas.microsoft.com/office/drawing/2014/main" id="{B0D08609-25FA-1CFF-E044-6DAECC6C06A2}"/>
                </a:ext>
              </a:extLst>
            </p:cNvPr>
            <p:cNvSpPr/>
            <p:nvPr/>
          </p:nvSpPr>
          <p:spPr>
            <a:xfrm>
              <a:off x="8129105" y="4191000"/>
              <a:ext cx="3302000" cy="2159000"/>
            </a:xfrm>
            <a:prstGeom prst="roundRect">
              <a:avLst>
                <a:gd name="adj" fmla="val 7058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17">
              <a:extLst>
                <a:ext uri="{FF2B5EF4-FFF2-40B4-BE49-F238E27FC236}">
                  <a16:creationId xmlns:a16="http://schemas.microsoft.com/office/drawing/2014/main" id="{C9D8B970-F97D-D305-2839-BCC995FF0293}"/>
                </a:ext>
              </a:extLst>
            </p:cNvPr>
            <p:cNvSpPr/>
            <p:nvPr/>
          </p:nvSpPr>
          <p:spPr>
            <a:xfrm>
              <a:off x="8319605" y="4572000"/>
              <a:ext cx="10160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4800" b="1" i="0" u="none" strike="noStrike" dirty="0">
                  <a:solidFill>
                    <a:schemeClr val="accent1">
                      <a:lumMod val="75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</a:t>
              </a:r>
              <a:r>
                <a:rPr lang="en-US" altLang="zh-CN" sz="4800" b="1" i="0" u="none" strike="noStrike" dirty="0">
                  <a:solidFill>
                    <a:schemeClr val="accent1">
                      <a:lumMod val="75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5</a:t>
              </a:r>
              <a:endParaRPr lang="en-US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2" name="文本框 18">
              <a:extLst>
                <a:ext uri="{FF2B5EF4-FFF2-40B4-BE49-F238E27FC236}">
                  <a16:creationId xmlns:a16="http://schemas.microsoft.com/office/drawing/2014/main" id="{829C2208-1FFF-C989-C425-471A6C256BF8}"/>
                </a:ext>
              </a:extLst>
            </p:cNvPr>
            <p:cNvSpPr txBox="1"/>
            <p:nvPr/>
          </p:nvSpPr>
          <p:spPr>
            <a:xfrm>
              <a:off x="9272105" y="4701555"/>
              <a:ext cx="165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r>
                <a:rPr kumimoji="1" lang="zh-CN" altLang="en-US" sz="1800" b="1" dirty="0">
                  <a:solidFill>
                    <a:srgbClr val="343A40"/>
                  </a:solidFill>
                  <a:ea typeface="Noto Sans SC" panose="020B0200000000000000" charset="-122"/>
                  <a:sym typeface="Noto Sans SC" panose="020B0200000000000000" charset="-122"/>
                </a:rPr>
                <a:t>更新内容</a:t>
              </a:r>
              <a:endParaRPr kumimoji="1" lang="zh-CN" altLang="en-US" sz="1800" dirty="0"/>
            </a:p>
          </p:txBody>
        </p:sp>
        <p:sp>
          <p:nvSpPr>
            <p:cNvPr id="15" name="文本框 19">
              <a:extLst>
                <a:ext uri="{FF2B5EF4-FFF2-40B4-BE49-F238E27FC236}">
                  <a16:creationId xmlns:a16="http://schemas.microsoft.com/office/drawing/2014/main" id="{A9567700-D2E4-1539-9B33-8A538AA9B51E}"/>
                </a:ext>
              </a:extLst>
            </p:cNvPr>
            <p:cNvSpPr txBox="1"/>
            <p:nvPr/>
          </p:nvSpPr>
          <p:spPr>
            <a:xfrm>
              <a:off x="9272105" y="5200319"/>
              <a:ext cx="1651000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228600" indent="-228600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200" dirty="0">
                  <a:solidFill>
                    <a:srgbClr val="6C757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更新至</a:t>
              </a:r>
              <a:r>
                <a:rPr lang="en-US" altLang="zh-CN" sz="1200" dirty="0">
                  <a:solidFill>
                    <a:srgbClr val="6C757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040701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0819F-F13B-0441-FC6A-8D5342C0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F6182AA-8148-1B48-ED4C-9B916B7E7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0E23B4D-6E9F-AA3E-66B5-52ACC72F20A6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BE75DE5-1957-CC20-CEEE-AAEDB6EDBC8D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D64A303C-DD89-B625-CD92-27FC1182C966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、调试准备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F23E6418-F1AB-5B41-1450-C593BCDB3DB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19723" y="1897744"/>
            <a:ext cx="10922000" cy="1806149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D0C8D61-2B65-77A5-D4C1-CA4ED72E2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73723" y="2061489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en-US" sz="1800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软件获取</a:t>
            </a:r>
            <a:endParaRPr lang="en-US" sz="1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A13601-A85C-B309-FB5D-17D3C8E5E09C}"/>
              </a:ext>
            </a:extLst>
          </p:cNvPr>
          <p:cNvSpPr txBox="1"/>
          <p:nvPr/>
        </p:nvSpPr>
        <p:spPr>
          <a:xfrm>
            <a:off x="508000" y="1232683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1.1</a:t>
            </a:r>
            <a:r>
              <a:rPr kumimoji="1" lang="zh-CN" altLang="en-US" sz="2400" b="1" dirty="0"/>
              <a:t> 软件获取与安装运行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F6C4BAD6-827C-6F35-59ED-5EFEC81B56E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73723" y="2442489"/>
            <a:ext cx="10163908" cy="12614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我们提供底层运动SDK</a:t>
            </a: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，便于客户在不同环境下进行二次开发，</a:t>
            </a:r>
            <a:r>
              <a:rPr 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Platform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跟随</a:t>
            </a:r>
            <a:r>
              <a:rPr 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SDK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发布</a:t>
            </a: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，且目前版本基于控制器主版本</a:t>
            </a:r>
            <a:r>
              <a:rPr lang="en-US" altLang="zh-CN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1004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SDK</a:t>
            </a: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详情请访问：</a:t>
            </a:r>
            <a:r>
              <a:rPr lang="en" altLang="zh-CN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11"/>
              </a:rPr>
              <a:t>https://github.com/tianjizn/tianji-robot-SDK/</a:t>
            </a:r>
            <a:endParaRPr lang="en" altLang="zh-CN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选择分支查看相应版本情况</a:t>
            </a:r>
            <a:endParaRPr lang="zh-CN" altLang="en-US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3F128CBE-CB68-DC86-B470-D2D009849A9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19723" y="3907289"/>
            <a:ext cx="10922000" cy="2786406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EBF40A1B-376E-95A9-4217-1627C1B259E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73723" y="4071034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en-US" sz="1800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安装运行</a:t>
            </a:r>
            <a:endParaRPr lang="en-US" sz="1800" dirty="0"/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AE58B611-3E67-0C27-1592-A78327599D4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73723" y="4452033"/>
            <a:ext cx="10163908" cy="22416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我们测试并提供在</a:t>
            </a:r>
            <a:r>
              <a:rPr lang="en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 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UBUNTU20.04_X86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下可执行的软件</a:t>
            </a:r>
            <a:r>
              <a:rPr lang="en-US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</a:t>
            </a:r>
            <a:r>
              <a:rPr lang="zh-CN" altLang="en-US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如果与您的环境不一致，请下载源码后编译库，直接运行或者生成可执行</a:t>
            </a:r>
            <a:r>
              <a:rPr lang="en" altLang="zh-CN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</a:t>
            </a:r>
            <a:r>
              <a:rPr lang="zh-CN" altLang="en-US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r>
              <a:rPr lang="zh-CN" altLang="zh-CN" dirty="0"/>
              <a:t>运行前请确认：</a:t>
            </a:r>
          </a:p>
          <a:p>
            <a:pPr lvl="0"/>
            <a:r>
              <a:rPr lang="en-US" altLang="zh-CN" dirty="0"/>
              <a:t>Platform</a:t>
            </a:r>
            <a:r>
              <a:rPr lang="zh-CN" altLang="zh-CN" dirty="0"/>
              <a:t>基础环境：</a:t>
            </a:r>
            <a:r>
              <a:rPr lang="en-US" altLang="zh-CN" dirty="0"/>
              <a:t>python3.10</a:t>
            </a:r>
            <a:r>
              <a:rPr lang="zh-CN" altLang="zh-CN" dirty="0"/>
              <a:t>及以上</a:t>
            </a:r>
            <a:r>
              <a:rPr lang="en-US" altLang="zh-CN" dirty="0"/>
              <a:t>, </a:t>
            </a:r>
            <a:r>
              <a:rPr lang="en-US" altLang="zh-CN" dirty="0" err="1"/>
              <a:t>pyinstaller,pillow</a:t>
            </a:r>
            <a:endParaRPr lang="zh-CN" altLang="zh-CN" dirty="0"/>
          </a:p>
          <a:p>
            <a:pPr lvl="0"/>
            <a:r>
              <a:rPr lang="zh-CN" altLang="zh-CN" dirty="0"/>
              <a:t>确保</a:t>
            </a:r>
            <a:r>
              <a:rPr lang="en-US" altLang="zh-CN" dirty="0"/>
              <a:t> SDK_PYTHON</a:t>
            </a:r>
            <a:r>
              <a:rPr lang="zh-CN" altLang="zh-CN" dirty="0"/>
              <a:t>文件夹下为</a:t>
            </a:r>
            <a:r>
              <a:rPr lang="en-US" altLang="zh-CN" dirty="0"/>
              <a:t>./</a:t>
            </a:r>
            <a:r>
              <a:rPr lang="en-US" altLang="zh-CN" dirty="0" err="1"/>
              <a:t>contrlSDK</a:t>
            </a:r>
            <a:r>
              <a:rPr lang="zh-CN" altLang="zh-CN" dirty="0"/>
              <a:t>和</a:t>
            </a:r>
            <a:r>
              <a:rPr lang="en-US" altLang="zh-CN" dirty="0"/>
              <a:t> ./</a:t>
            </a:r>
            <a:r>
              <a:rPr lang="en-US" altLang="zh-CN" dirty="0" err="1"/>
              <a:t>kinematicsSDK</a:t>
            </a:r>
            <a:r>
              <a:rPr lang="zh-CN" altLang="zh-CN" dirty="0"/>
              <a:t>下编译的最新的动态库</a:t>
            </a:r>
            <a:r>
              <a:rPr lang="en-US" altLang="zh-CN" dirty="0"/>
              <a:t>SO</a:t>
            </a:r>
            <a:r>
              <a:rPr lang="zh-CN" altLang="zh-CN" dirty="0"/>
              <a:t>：</a:t>
            </a:r>
            <a:r>
              <a:rPr lang="en-US" altLang="zh-CN" dirty="0" err="1"/>
              <a:t>libMarvinSDK.so</a:t>
            </a:r>
            <a:r>
              <a:rPr lang="en-US" altLang="zh-CN" dirty="0"/>
              <a:t> </a:t>
            </a:r>
            <a:r>
              <a:rPr lang="zh-CN" altLang="zh-CN" dirty="0"/>
              <a:t>和</a:t>
            </a:r>
            <a:r>
              <a:rPr lang="en-US" altLang="zh-CN" dirty="0"/>
              <a:t> </a:t>
            </a:r>
            <a:r>
              <a:rPr lang="en-US" altLang="zh-CN" dirty="0" err="1"/>
              <a:t>libKine.so</a:t>
            </a:r>
            <a:endParaRPr lang="en-US" altLang="zh-CN" dirty="0"/>
          </a:p>
          <a:p>
            <a:r>
              <a:rPr lang="zh-CN" altLang="zh-CN" dirty="0"/>
              <a:t>运行</a:t>
            </a:r>
            <a:r>
              <a:rPr lang="en-US" altLang="zh-CN" dirty="0"/>
              <a:t>APP</a:t>
            </a:r>
            <a:r>
              <a:rPr lang="zh-CN" altLang="zh-CN" dirty="0"/>
              <a:t>：</a:t>
            </a:r>
          </a:p>
          <a:p>
            <a:pPr lvl="0"/>
            <a:r>
              <a:rPr lang="zh-CN" altLang="zh-CN" dirty="0"/>
              <a:t>源码运行</a:t>
            </a:r>
            <a:r>
              <a:rPr lang="en-US" altLang="zh-CN" dirty="0"/>
              <a:t> </a:t>
            </a:r>
            <a:r>
              <a:rPr lang="en-US" altLang="zh-CN" dirty="0" err="1"/>
              <a:t>ui.py</a:t>
            </a:r>
            <a:endParaRPr lang="zh-CN" altLang="zh-CN" dirty="0"/>
          </a:p>
          <a:p>
            <a:pPr lvl="0"/>
            <a:r>
              <a:rPr lang="zh-CN" altLang="zh-CN" dirty="0"/>
              <a:t>生成可执行文件后运行，以便于分发到其他无</a:t>
            </a:r>
            <a:r>
              <a:rPr lang="en-US" altLang="zh-CN" dirty="0"/>
              <a:t>PY</a:t>
            </a:r>
            <a:r>
              <a:rPr lang="zh-CN" altLang="zh-CN" dirty="0"/>
              <a:t>环境的电脑上：</a:t>
            </a:r>
            <a:r>
              <a:rPr lang="en-US" altLang="zh-CN" dirty="0"/>
              <a:t>python  </a:t>
            </a:r>
            <a:r>
              <a:rPr lang="en-US" altLang="zh-CN" dirty="0" err="1"/>
              <a:t>setup.py</a:t>
            </a:r>
            <a:endParaRPr lang="zh-CN" altLang="zh-CN" dirty="0"/>
          </a:p>
          <a:p>
            <a:pPr indent="0" algn="l">
              <a:defRPr/>
            </a:pPr>
            <a:endParaRPr lang="en-US" altLang="zh-CN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7">
            <a:extLst>
              <a:ext uri="{FF2B5EF4-FFF2-40B4-BE49-F238E27FC236}">
                <a16:creationId xmlns:a16="http://schemas.microsoft.com/office/drawing/2014/main" id="{2EC866A4-FB45-881A-9D11-447D5F4A242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73723" y="5559865"/>
            <a:ext cx="10163908" cy="805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50000"/>
              </a:lnSpc>
              <a:defRPr/>
            </a:pPr>
            <a:endParaRPr lang="zh-CN" altLang="en-US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9335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1315B-EAE9-E903-FB65-FC0EA46B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DC50698-5D28-1D16-0023-59AEC3704B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87EEBC-EFB8-CAAD-5A2E-5BC347EB50D2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3A2AB57-7A3F-0C8C-A8DF-99EBDC0D7C5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C8BE2D24-3B9A-3696-EE4F-E4B31F42F36D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、调试准备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49B439E-B34C-CA22-CB9E-BB682F6FF442}"/>
              </a:ext>
            </a:extLst>
          </p:cNvPr>
          <p:cNvGrpSpPr/>
          <p:nvPr/>
        </p:nvGrpSpPr>
        <p:grpSpPr>
          <a:xfrm>
            <a:off x="6778625" y="1733559"/>
            <a:ext cx="5080000" cy="2413000"/>
            <a:chOff x="6778625" y="1803409"/>
            <a:chExt cx="5080000" cy="2413000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BFB99F02-047A-CDEA-7DB7-A4E76B8B672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778625" y="1803409"/>
              <a:ext cx="5080000" cy="2413000"/>
            </a:xfrm>
            <a:prstGeom prst="roundRect">
              <a:avLst>
                <a:gd name="adj" fmla="val 6315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9ECEF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8883BAD-9E01-B947-1B34-71903BD8BD9C}"/>
                </a:ext>
              </a:extLst>
            </p:cNvPr>
            <p:cNvGrpSpPr/>
            <p:nvPr/>
          </p:nvGrpSpPr>
          <p:grpSpPr>
            <a:xfrm>
              <a:off x="7032625" y="1955809"/>
              <a:ext cx="4572000" cy="381000"/>
              <a:chOff x="7032625" y="1955809"/>
              <a:chExt cx="4572000" cy="381000"/>
            </a:xfrm>
          </p:grpSpPr>
          <p:pic>
            <p:nvPicPr>
              <p:cNvPr id="6" name="Picture 6">
                <a:extLst>
                  <a:ext uri="{FF2B5EF4-FFF2-40B4-BE49-F238E27FC236}">
                    <a16:creationId xmlns:a16="http://schemas.microsoft.com/office/drawing/2014/main" id="{9E541DD0-5FFF-B618-A99C-CA302913CA1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032625" y="2006609"/>
                <a:ext cx="279400" cy="279400"/>
              </a:xfrm>
              <a:prstGeom prst="rect">
                <a:avLst/>
              </a:prstGeom>
            </p:spPr>
          </p:pic>
          <p:sp>
            <p:nvSpPr>
              <p:cNvPr id="7" name="AutoShape 7">
                <a:extLst>
                  <a:ext uri="{FF2B5EF4-FFF2-40B4-BE49-F238E27FC236}">
                    <a16:creationId xmlns:a16="http://schemas.microsoft.com/office/drawing/2014/main" id="{3957B8A8-0E8C-783E-801F-0AD7A40D5838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7413625" y="1955809"/>
                <a:ext cx="4191000" cy="381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defRPr/>
                </a:pPr>
                <a:r>
                  <a:rPr lang="en-US" sz="1900" b="1" i="0" u="none" strike="noStrike" dirty="0" err="1">
                    <a:solidFill>
                      <a:srgbClr val="28A745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操作步骤</a:t>
                </a:r>
                <a:endParaRPr lang="en-US" sz="1100" dirty="0"/>
              </a:p>
            </p:txBody>
          </p:sp>
        </p:grp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88AFDEE0-7714-DEF1-F911-216F542CFA4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032625" y="2565409"/>
              <a:ext cx="4572000" cy="1397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  <a:defRPr/>
              </a:pPr>
              <a:r>
                <a:rPr lang="en-US" sz="1200" b="0" i="0" u="none" strike="noStrike" dirty="0" err="1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在界面左上角找到</a:t>
              </a:r>
              <a:r>
                <a:rPr lang="en-US" sz="1200" b="1" i="0" u="none" strike="noStrike" dirty="0" err="1">
                  <a:solidFill>
                    <a:srgbClr val="28A74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连接设置区域</a:t>
              </a:r>
              <a:endParaRPr lang="en-US" sz="1200" dirty="0"/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200" b="0" i="0" u="none" strike="noStrike" dirty="0" err="1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在IP地址输入框中，准确输入机器人控制器的IP地址</a:t>
              </a:r>
              <a:endParaRPr lang="en-US" sz="12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200" b="0" i="0" u="none" strike="noStrike" dirty="0" err="1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点击“连接机器人”按钮，发起连接请求</a:t>
              </a:r>
              <a:endParaRPr lang="en-US" sz="12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200" b="0" i="0" u="none" strike="noStrike" dirty="0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成功后，按钮状态会自动更新为绿色的“</a:t>
              </a:r>
              <a:r>
                <a:rPr lang="en-US" sz="1200" b="1" i="0" u="none" strike="noStrike" dirty="0">
                  <a:solidFill>
                    <a:srgbClr val="28A74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已连接</a:t>
              </a:r>
              <a:r>
                <a:rPr lang="en-US" sz="1200" b="0" i="0" u="none" strike="noStrike" dirty="0">
                  <a:solidFill>
                    <a:srgbClr val="49505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”</a:t>
              </a:r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6AE3041C-94BA-C3BA-D0EF-47244CD4229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78625" y="4406909"/>
            <a:ext cx="5080000" cy="2286786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048CACB-49DF-1B20-294F-F0B0253FC130}"/>
              </a:ext>
            </a:extLst>
          </p:cNvPr>
          <p:cNvGrpSpPr/>
          <p:nvPr/>
        </p:nvGrpSpPr>
        <p:grpSpPr>
          <a:xfrm>
            <a:off x="7032625" y="4559309"/>
            <a:ext cx="4572000" cy="381000"/>
            <a:chOff x="7032625" y="4559309"/>
            <a:chExt cx="4572000" cy="38100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403D6075-2D9D-4893-9947-C808D34E5CA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32625" y="4610109"/>
              <a:ext cx="279400" cy="279400"/>
            </a:xfrm>
            <a:prstGeom prst="rect">
              <a:avLst/>
            </a:prstGeom>
          </p:spPr>
        </p:pic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1BA08B48-6C70-41FA-F4D7-83B2DD57384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413625" y="4559309"/>
              <a:ext cx="4191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defRPr/>
              </a:pPr>
              <a:r>
                <a:rPr lang="en-US" sz="1900" b="1" i="0" u="none" strike="noStrike" dirty="0" err="1">
                  <a:solidFill>
                    <a:srgbClr val="FFC20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排查</a:t>
              </a:r>
              <a:endParaRPr lang="en-US" sz="1100" dirty="0">
                <a:solidFill>
                  <a:srgbClr val="FFC207"/>
                </a:solidFill>
              </a:endParaRPr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5D409399-796A-5B53-0428-BD7EE5058A4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032625" y="4978409"/>
            <a:ext cx="4572000" cy="17152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120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网络连接：请确保电脑与机器人控制器处于同一个局域网内</a:t>
            </a:r>
            <a:r>
              <a:rPr lang="en-US" sz="120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dirty="0"/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r>
              <a:rPr lang="en-US" sz="120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IP校验：输入前请再次核对IP地址，避免因地址错误导致连接失败</a:t>
            </a:r>
            <a:endParaRPr lang="en-US" sz="120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r>
              <a:rPr lang="en-US" sz="120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故障排查：若失败，请优先检查机器人电源状态及网络配置是否正确</a:t>
            </a:r>
            <a:endParaRPr lang="en-US" sz="120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1BE0755-8E74-9221-47C3-2853C31C67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7999" y="3188455"/>
            <a:ext cx="6090920" cy="349969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E1773E8-5757-D596-9B29-352F1D359235}"/>
              </a:ext>
            </a:extLst>
          </p:cNvPr>
          <p:cNvSpPr txBox="1"/>
          <p:nvPr/>
        </p:nvSpPr>
        <p:spPr>
          <a:xfrm>
            <a:off x="508000" y="1119494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1.2</a:t>
            </a:r>
            <a:r>
              <a:rPr kumimoji="1" lang="zh-CN" altLang="en-US" sz="2400" b="1" dirty="0"/>
              <a:t> 连接机器人与排查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ED281A5-822E-42D4-9F45-A61A5AA7C87A}"/>
              </a:ext>
            </a:extLst>
          </p:cNvPr>
          <p:cNvSpPr txBox="1"/>
          <p:nvPr/>
        </p:nvSpPr>
        <p:spPr>
          <a:xfrm>
            <a:off x="507999" y="1744086"/>
            <a:ext cx="6090919" cy="144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200" dirty="0"/>
              <a:t>在进行软件连接前，请确认以下物理连接已正确建立：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/>
              <a:t>控制器电源已接通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/>
              <a:t>以太网线缆连接牢固：一端插入控制器网口（标注为</a:t>
            </a:r>
            <a:r>
              <a:rPr lang="en-US" altLang="zh-CN" sz="1200" dirty="0"/>
              <a:t>CAT.6</a:t>
            </a:r>
            <a:r>
              <a:rPr lang="zh-CN" altLang="zh-CN" sz="1200" dirty="0"/>
              <a:t>），另一端插入电脑网口或交换机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/>
              <a:t>机器人本体急停按钮处于释放状态</a:t>
            </a:r>
          </a:p>
        </p:txBody>
      </p:sp>
    </p:spTree>
    <p:extLst>
      <p:ext uri="{BB962C8B-B14F-4D97-AF65-F5344CB8AC3E}">
        <p14:creationId xmlns:p14="http://schemas.microsoft.com/office/powerpoint/2010/main" val="191309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756400" y="1778000"/>
            <a:ext cx="5080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400" y="1981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442200" y="1943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en-US" sz="18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核心功能区域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010400" y="2540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状态显示：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实时反馈机器人运行状态（如空闲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位置模式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）。</a:t>
            </a:r>
            <a:endParaRPr lang="en-US" sz="1100" dirty="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拖动按钮状态：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清晰指示拖动示教功能的启用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禁用状态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9423400" y="2540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zh-CN" alt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</a:t>
            </a: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直观展示机器人当前是否处于完全静止状态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错误码显示：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实时提示系统当前错误代码，便于快速排查问题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756400" y="4191000"/>
            <a:ext cx="5080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010400" y="4356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en-US" sz="18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操作与状态解读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010400" y="49530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状态指示灯颜色</a:t>
            </a: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IDLE：</a:t>
            </a:r>
            <a:r>
              <a:rPr lang="zh-CN" altLang="en-US" sz="1200" b="0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空闲状态</a:t>
            </a:r>
            <a:r>
              <a:rPr lang="en-US" sz="1200" b="0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Position</a:t>
            </a:r>
            <a:r>
              <a:rPr lang="zh-CN" altLang="en-US" sz="1200" b="0" i="0" u="none" strike="noStrike" dirty="0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：位置模式</a:t>
            </a:r>
            <a:endParaRPr lang="en-US" sz="1200" b="0" i="0" u="none" strike="noStrike" dirty="0">
              <a:solidFill>
                <a:srgbClr val="FD7E1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DC35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Impedance：</a:t>
            </a:r>
            <a:r>
              <a:rPr lang="zh-CN" altLang="en-US" sz="1200" b="0" i="0" u="none" strike="noStrike" dirty="0">
                <a:solidFill>
                  <a:srgbClr val="DC35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阻抗模式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423400" y="4953000"/>
            <a:ext cx="215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拖动示教操作</a:t>
            </a:r>
            <a:r>
              <a:rPr lang="en-US" sz="13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按下“拖动按钮”后，机器人即进入拖动模式</a:t>
            </a:r>
            <a:endParaRPr lang="en-US" sz="12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1943100"/>
            <a:ext cx="6076323" cy="4329229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087BC705-FBBB-04B0-8BE0-67817F5B8F31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1E7CA40-6E99-CED8-5851-12B2F21FE20C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AutoShape 3">
              <a:extLst>
                <a:ext uri="{FF2B5EF4-FFF2-40B4-BE49-F238E27FC236}">
                  <a16:creationId xmlns:a16="http://schemas.microsoft.com/office/drawing/2014/main" id="{DFE0088F-7605-852F-296A-8DB0A6A98079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8C4A6FB3-6EBF-D8C4-6FD7-E84FC0B99F0E}"/>
              </a:ext>
            </a:extLst>
          </p:cNvPr>
          <p:cNvSpPr txBox="1"/>
          <p:nvPr/>
        </p:nvSpPr>
        <p:spPr>
          <a:xfrm>
            <a:off x="508000" y="1119494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2.1</a:t>
            </a:r>
            <a:r>
              <a:rPr kumimoji="1" lang="zh-CN" altLang="en-US" sz="2400" b="1" dirty="0"/>
              <a:t> 左侧状态栏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2057399"/>
            <a:ext cx="50800" cy="3943351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5500" y="1838328"/>
            <a:ext cx="4572000" cy="428933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速度与加速度设置</a:t>
            </a:r>
            <a:endParaRPr lang="en-US" sz="1100" dirty="0"/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(%)：</a:t>
            </a:r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输入框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可在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0% 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100% 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的范围内精确调节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加速度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(%)：</a:t>
            </a:r>
          </a:p>
          <a:p>
            <a:pPr indent="0" algn="l">
              <a:lnSpc>
                <a:spcPct val="150000"/>
              </a:lnSpc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配合速度进行联动设置，同样支持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0-100% 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的自由调节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1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</a:t>
            </a:r>
            <a:r>
              <a:rPr lang="en-US" sz="1200" b="0" i="1" u="none" strike="noStrike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建议设置：初次使用或测试阶段，推荐将速度和加速度值设定在</a:t>
            </a:r>
            <a:r>
              <a:rPr lang="en-US" sz="1200" b="0" i="1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i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5%</a:t>
            </a:r>
            <a:r>
              <a:rPr lang="en-US" sz="1200" b="0" i="1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en-US" altLang="zh-CN" sz="1200" b="0" i="1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sz="1200" b="0" i="1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0% </a:t>
            </a:r>
            <a:r>
              <a:rPr lang="en-US" sz="1200" b="0" i="1" u="none" strike="noStrike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的较低区间，确保操作安全</a:t>
            </a:r>
            <a:endParaRPr lang="en-US" sz="1200" b="0" i="1" u="none" strike="noStrike" dirty="0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737" y="1647829"/>
            <a:ext cx="6105525" cy="474599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608E2CB-17C3-53A2-B8A5-82A6DF051E5C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285E910-9EF9-7D97-45C0-328C30099E46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FF60D46E-45A1-0B88-ABCA-0AED7ED0BED8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7319187-3B57-FE1F-004D-027344093506}"/>
              </a:ext>
            </a:extLst>
          </p:cNvPr>
          <p:cNvSpPr txBox="1"/>
          <p:nvPr/>
        </p:nvSpPr>
        <p:spPr>
          <a:xfrm>
            <a:off x="508000" y="1119494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2.2</a:t>
            </a:r>
            <a:r>
              <a:rPr kumimoji="1" lang="zh-CN" altLang="en-US" sz="2400" b="1" dirty="0"/>
              <a:t> 参数设置栏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6CF25-973E-B1EF-EC96-F5015B91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70AD5A9-790F-69B0-EA13-BDCC490435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4197DAF-D7CD-8475-C609-627C20F0E718}"/>
              </a:ext>
            </a:extLst>
          </p:cNvPr>
          <p:cNvSpPr/>
          <p:nvPr/>
        </p:nvSpPr>
        <p:spPr>
          <a:xfrm>
            <a:off x="508000" y="1838329"/>
            <a:ext cx="45719" cy="455549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CE41E39-EDEA-B1D6-CB78-808BD76967E2}"/>
              </a:ext>
            </a:extLst>
          </p:cNvPr>
          <p:cNvSpPr/>
          <p:nvPr/>
        </p:nvSpPr>
        <p:spPr>
          <a:xfrm>
            <a:off x="825500" y="1838329"/>
            <a:ext cx="3499075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阻抗参数设置</a:t>
            </a:r>
            <a:endParaRPr lang="en-US" sz="1100" dirty="0"/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刚度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阻尼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系数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分别控制机器人的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r>
              <a:rPr lang="en-US" sz="13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动态响应特性，实现对机械臂行为的精细微调</a:t>
            </a:r>
            <a:endParaRPr lang="en-US" sz="13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1" dirty="0">
                <a:solidFill>
                  <a:srgbClr val="495057"/>
                </a:solidFill>
                <a:ea typeface="Noto Sans SC" panose="020B0200000000000000" charset="-122"/>
              </a:rPr>
              <a:t>力 </a:t>
            </a:r>
            <a:r>
              <a:rPr lang="en-US" altLang="zh-CN" sz="1300" b="1" dirty="0">
                <a:solidFill>
                  <a:srgbClr val="495057"/>
                </a:solidFill>
                <a:ea typeface="Noto Sans SC" panose="020B0200000000000000" charset="-122"/>
              </a:rPr>
              <a:t>/ </a:t>
            </a:r>
            <a:r>
              <a:rPr lang="zh-CN" altLang="en-US" sz="1300" b="1" dirty="0">
                <a:solidFill>
                  <a:srgbClr val="495057"/>
                </a:solidFill>
                <a:ea typeface="Noto Sans SC" panose="020B0200000000000000" charset="-122"/>
              </a:rPr>
              <a:t>力矩设置值及最大检测距离</a:t>
            </a:r>
            <a:r>
              <a:rPr lang="en-US" altLang="zh-CN" sz="1300" b="1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</a:t>
            </a:r>
            <a:r>
              <a:rPr lang="en-US" sz="13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yz方向</a:t>
            </a:r>
            <a:r>
              <a:rPr lang="zh-CN" altLang="en-US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-50</a:t>
            </a:r>
            <a:r>
              <a:rPr lang="zh-CN" altLang="en-US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～</a:t>
            </a:r>
            <a:r>
              <a:rPr lang="en-US" altLang="zh-CN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</a:t>
            </a:r>
            <a:r>
              <a:rPr lang="zh-CN" altLang="en-US" sz="13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的力，检测距离</a:t>
            </a:r>
            <a:endParaRPr lang="en-US" altLang="zh-CN" sz="13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xyz方向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，扭矩，检查角度</a:t>
            </a:r>
            <a:endParaRPr lang="en-US" sz="13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典型应用场景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spcBef>
                <a:spcPts val="800"/>
              </a:spcBef>
            </a:pPr>
            <a:r>
              <a:rPr lang="en-US" sz="12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适用于精密零件装配、曲面力控打磨等，需要机械臂与环境保持柔性接触与互动的专业作业场景</a:t>
            </a:r>
            <a:endParaRPr lang="en-US" sz="1200" b="0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816D311-5E87-C44F-7B5D-554210D0D3C1}"/>
              </a:ext>
            </a:extLst>
          </p:cNvPr>
          <p:cNvGrpSpPr/>
          <p:nvPr/>
        </p:nvGrpSpPr>
        <p:grpSpPr>
          <a:xfrm>
            <a:off x="0" y="-1"/>
            <a:ext cx="12192000" cy="900113"/>
            <a:chOff x="0" y="-1"/>
            <a:chExt cx="12192000" cy="90011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88C0DA0-5106-4338-A846-1ED82167D9E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7B6D0F8C-492D-8AB5-2E8F-7ABFF180F485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484800E-FA9C-6A32-F5B1-52AFE0F8C6B6}"/>
              </a:ext>
            </a:extLst>
          </p:cNvPr>
          <p:cNvSpPr txBox="1"/>
          <p:nvPr/>
        </p:nvSpPr>
        <p:spPr>
          <a:xfrm>
            <a:off x="508000" y="1119494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2.2</a:t>
            </a:r>
            <a:r>
              <a:rPr kumimoji="1" lang="zh-CN" altLang="en-US" sz="2400" b="1" dirty="0"/>
              <a:t> 参数设置栏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664BDB0B-37CC-E2F9-6AF4-5FA25D894D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08" t="17586" r="5073" b="19900"/>
          <a:stretch>
            <a:fillRect/>
          </a:stretch>
        </p:blipFill>
        <p:spPr>
          <a:xfrm>
            <a:off x="4508648" y="2094352"/>
            <a:ext cx="7175352" cy="364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90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346200" y="1143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479060" y="1778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6479060" y="1778000"/>
            <a:ext cx="101600" cy="12700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34660" y="2032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7495060" y="1930400"/>
            <a:ext cx="4064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空闲状态</a:t>
            </a:r>
            <a:r>
              <a:rPr lang="en-US" sz="18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(IDLE)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下使能状态，不响应运动指令。此状态下主要用于初始化配置、参数修改或模式切换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479060" y="3302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479060" y="3302000"/>
            <a:ext cx="101600" cy="12700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34660" y="3556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7495060" y="3454400"/>
            <a:ext cx="4064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位置模式</a:t>
            </a:r>
            <a:r>
              <a:rPr lang="en-US" sz="18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(Position)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标准的位置控制模式。机器人精确接收并执行绝对或相对位置指令，适用于路径固定的常规作业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479060" y="48260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479060" y="4826000"/>
            <a:ext cx="101600" cy="12700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34660" y="5080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7495060" y="4978400"/>
            <a:ext cx="4064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关节阻抗模式</a:t>
            </a:r>
            <a:r>
              <a:rPr lang="en-US" sz="18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(Joint Impedance)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在关节空间实现阻抗控制，提供良好的关节柔顺性。非常适合需要人机物理协作、力控打磨或柔性装配的场景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1165" y="1930400"/>
            <a:ext cx="5876925" cy="3916045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D816D311-5E87-C44F-7B5D-554210D0D3C1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88C0DA0-5106-4338-A846-1ED82167D9E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0" name="AutoShape 3">
              <a:extLst>
                <a:ext uri="{FF2B5EF4-FFF2-40B4-BE49-F238E27FC236}">
                  <a16:creationId xmlns:a16="http://schemas.microsoft.com/office/drawing/2014/main" id="{7B6D0F8C-492D-8AB5-2E8F-7ABFF180F485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3">
            <a:extLst>
              <a:ext uri="{FF2B5EF4-FFF2-40B4-BE49-F238E27FC236}">
                <a16:creationId xmlns:a16="http://schemas.microsoft.com/office/drawing/2014/main" id="{4484800E-FA9C-6A32-F5B1-52AFE0F8C6B6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2.3</a:t>
            </a:r>
            <a:r>
              <a:rPr kumimoji="1" lang="zh-CN" altLang="en-US" sz="2400" b="1" dirty="0"/>
              <a:t> 状态转换模式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453080" y="1725142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7080" y="2042642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723080" y="1915642"/>
            <a:ext cx="368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</a:t>
            </a: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笛卡尔阻抗模式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在机器人末端笛卡尔空间进行阻抗控制，保持末端姿态的柔顺性，适用于需要恒定接触力的任务（如去毛刺、曲面贴合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453080" y="3439642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7080" y="3757142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723080" y="3630142"/>
            <a:ext cx="368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</a:t>
            </a: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力控模式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直接对机器人进行高精度的力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力矩闭环控制，专为精密打磨、抛光、装配等需要精确控制输出力的场景设计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53080" y="5154142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7080" y="5433542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723080" y="5344642"/>
            <a:ext cx="368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</a:t>
            </a: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拖动示教模式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支持用户手动牵引机器人进行拖动示教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571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▲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状态模式切换面板示意</a:t>
            </a:r>
            <a:endParaRPr lang="en-US" sz="11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91212" y="1845955"/>
            <a:ext cx="5997575" cy="389255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B4302743-CD6B-F2DD-1BB7-BAE53DD4729E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4E905D9-0766-AA7D-2170-C236B90FEF4B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7" name="AutoShape 3">
              <a:extLst>
                <a:ext uri="{FF2B5EF4-FFF2-40B4-BE49-F238E27FC236}">
                  <a16:creationId xmlns:a16="http://schemas.microsoft.com/office/drawing/2014/main" id="{8A26EC1B-D12A-1282-149C-609E4BEC58ED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、界面功能概览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框 13">
            <a:extLst>
              <a:ext uri="{FF2B5EF4-FFF2-40B4-BE49-F238E27FC236}">
                <a16:creationId xmlns:a16="http://schemas.microsoft.com/office/drawing/2014/main" id="{6DC43320-1858-E06E-72C0-18793F311DBE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2.3</a:t>
            </a:r>
            <a:r>
              <a:rPr kumimoji="1" lang="zh-CN" altLang="en-US" sz="2400" b="1" dirty="0"/>
              <a:t> 状态转换模式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357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519" r="519"/>
          <a:stretch>
            <a:fillRect/>
          </a:stretch>
        </p:blipFill>
        <p:spPr>
          <a:xfrm>
            <a:off x="762000" y="1666240"/>
            <a:ext cx="5080000" cy="2890520"/>
          </a:xfrm>
          <a:prstGeom prst="rect">
            <a:avLst/>
          </a:prstGeom>
          <a:noFill/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28A74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825999"/>
            <a:ext cx="4699000" cy="1396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</a:t>
            </a:r>
            <a:r>
              <a:rPr lang="en-US" sz="13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操作提示</a:t>
            </a: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状态栏实时反映机器人系统的运行状态与故障代码。遇到报错时，切勿随意操作，建议优先查阅官方手册对照错误代码排查原因，再进行复位或恢复操作。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8415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</a:t>
            </a: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关键功能按钮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477000" y="241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重置</a:t>
            </a: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(Reset)：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清除错误状态，尝试恢复正常运行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获取错误</a:t>
            </a:r>
            <a:r>
              <a:rPr lang="en-US" sz="13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(Get Error)：</a:t>
            </a:r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读取并显示伺服电机报错代码，便于排查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921750" y="2413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抱闸</a:t>
            </a:r>
            <a:r>
              <a:rPr lang="en-US" sz="1300" b="1" i="0" u="none" strike="noStrike" dirty="0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300" b="1" i="0" u="none" strike="noStrike" dirty="0" err="1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松抱闸</a:t>
            </a:r>
            <a:r>
              <a:rPr lang="en-US" sz="1300" b="1" i="0" u="none" strike="noStrike" dirty="0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锁定或释放电机刹车，用于维护及拖动示教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300" b="1" i="0" u="none" strike="noStrike" dirty="0">
                <a:solidFill>
                  <a:srgbClr val="FFC1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</a:t>
            </a:r>
            <a:r>
              <a:rPr lang="en-US" sz="1300" b="1" i="0" u="none" strike="noStrike" dirty="0" err="1">
                <a:solidFill>
                  <a:srgbClr val="FFC1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CR协作释放</a:t>
            </a:r>
            <a:r>
              <a:rPr lang="en-US" sz="1300" b="1" i="0" u="none" strike="noStrike" dirty="0">
                <a:solidFill>
                  <a:srgbClr val="FFC1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提供力补偿，用于轻松释放机器人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4318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45085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🔄 </a:t>
            </a: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标准错误处理流程</a:t>
            </a:r>
            <a:endParaRPr lang="en-US" sz="1100"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080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5080000"/>
            <a:ext cx="927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50000"/>
              </a:lnSpc>
              <a:defRPr/>
            </a:pPr>
            <a:r>
              <a:rPr lang="en-US" sz="12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查看代码</a:t>
            </a:r>
            <a:endParaRPr lang="en-US" sz="1100" dirty="0"/>
          </a:p>
          <a:p>
            <a:pPr indent="0">
              <a:lnSpc>
                <a:spcPct val="150000"/>
              </a:lnSpc>
            </a:pPr>
            <a:r>
              <a:rPr lang="en-US" sz="10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获取具体故障码</a:t>
            </a:r>
            <a:endParaRPr lang="en-US" sz="10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75600" y="5080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56600" y="5080000"/>
            <a:ext cx="82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50000"/>
              </a:lnSpc>
              <a:defRPr/>
            </a:pPr>
            <a:r>
              <a:rPr lang="en-US" sz="12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手册排查</a:t>
            </a:r>
            <a:endParaRPr lang="en-US" sz="1100" dirty="0"/>
          </a:p>
          <a:p>
            <a:pPr indent="0">
              <a:lnSpc>
                <a:spcPct val="150000"/>
              </a:lnSpc>
            </a:pPr>
            <a:r>
              <a:rPr lang="en-US" sz="10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对照说明分析</a:t>
            </a:r>
            <a:endParaRPr lang="en-US" sz="10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6100" y="5080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817099" y="5080000"/>
            <a:ext cx="97034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50000"/>
              </a:lnSpc>
              <a:defRPr/>
            </a:pPr>
            <a:r>
              <a:rPr lang="en-US" sz="12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恢复操作</a:t>
            </a:r>
            <a:endParaRPr lang="en-US" sz="1100" dirty="0"/>
          </a:p>
          <a:p>
            <a:pPr indent="0">
              <a:lnSpc>
                <a:spcPct val="150000"/>
              </a:lnSpc>
            </a:pPr>
            <a:r>
              <a:rPr lang="en-US" sz="10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执行重置或复位</a:t>
            </a:r>
            <a:endParaRPr lang="en-US" sz="10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FD90F7F-9CE0-C3F2-8661-B9F417B387D7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9E3A2BD-E373-C0E5-3D34-9D985A823E80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1" name="AutoShape 3">
              <a:extLst>
                <a:ext uri="{FF2B5EF4-FFF2-40B4-BE49-F238E27FC236}">
                  <a16:creationId xmlns:a16="http://schemas.microsoft.com/office/drawing/2014/main" id="{DC55CD30-0A76-D56A-E00C-5AEB5CE528E5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、核心操作模块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文本框 13">
            <a:extLst>
              <a:ext uri="{FF2B5EF4-FFF2-40B4-BE49-F238E27FC236}">
                <a16:creationId xmlns:a16="http://schemas.microsoft.com/office/drawing/2014/main" id="{A49574BD-140B-0721-AE8F-A6CD9B4F4091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3.1</a:t>
            </a:r>
            <a:r>
              <a:rPr kumimoji="1" lang="zh-CN" altLang="en-US" sz="2400" b="1" dirty="0"/>
              <a:t> 错误处理状态栏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606061" y="1524000"/>
            <a:ext cx="1651000" cy="3810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50561" y="1905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733061" y="2921000"/>
            <a:ext cx="1397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关节数据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实时追踪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各个关节的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 / 速度 / 力矩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全维度状态反馈</a:t>
            </a: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8384061" y="1524000"/>
            <a:ext cx="1651000" cy="3810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28561" y="1905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8511061" y="2921000"/>
            <a:ext cx="1397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轴外力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精确反馈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末端的</a:t>
            </a:r>
            <a:r>
              <a:rPr lang="zh-CN" alt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所受的力，已补偿摩檫力，自身重力</a:t>
            </a: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10162061" y="1524000"/>
            <a:ext cx="1651000" cy="3810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06561" y="1905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289061" y="2921000"/>
            <a:ext cx="1397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目标位置</a:t>
            </a: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zh-CN" alt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输出目标位置的命令值，从而查看发送给机器人的命令是否和预期一致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588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5313" y="5715000"/>
            <a:ext cx="10142837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点击切换数据显示</a:t>
            </a:r>
            <a:endParaRPr lang="en-US" sz="1800" b="1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sz="1300" b="0" i="0" u="none" strike="noStrike" dirty="0" err="1">
                <a:solidFill>
                  <a:srgbClr val="E6F8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</a:t>
            </a:r>
            <a:r>
              <a:rPr lang="zh-CN" altLang="en-US" sz="1300" b="0" i="0" u="none" strike="noStrike" dirty="0">
                <a:solidFill>
                  <a:srgbClr val="E6F8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、命令位置、速度、传感器扭矩、外部扭矩、电机扭矩、外部位置、基座陀螺仪、法兰力</a:t>
            </a:r>
            <a:endParaRPr lang="en-US" sz="11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939" y="1708160"/>
            <a:ext cx="5971061" cy="3444914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166D9919-1698-5A6A-44B3-BE897C60285E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1BBC9C3-79A6-AB48-2A84-1A3DC4B712E1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1" name="AutoShape 3">
              <a:extLst>
                <a:ext uri="{FF2B5EF4-FFF2-40B4-BE49-F238E27FC236}">
                  <a16:creationId xmlns:a16="http://schemas.microsoft.com/office/drawing/2014/main" id="{DD7C0805-FDCA-776B-9760-D1CDC6E2950A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、核心操作模块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文本框 13">
            <a:extLst>
              <a:ext uri="{FF2B5EF4-FFF2-40B4-BE49-F238E27FC236}">
                <a16:creationId xmlns:a16="http://schemas.microsoft.com/office/drawing/2014/main" id="{214C2386-2738-889A-3F2D-0E5596F8C68F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3.2</a:t>
            </a:r>
            <a:r>
              <a:rPr kumimoji="1" lang="zh-CN" altLang="en-US" sz="2400" b="1" dirty="0"/>
              <a:t> 实时数据显示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508000" y="2321626"/>
            <a:ext cx="4484130" cy="1488936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2321626"/>
            <a:ext cx="3810000" cy="14889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获取当前位置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点击界面中的“GetCurPos”按钮，系统将自动读取当前所有关节的实时角度数据，并将其保存至点位列表中，形成一个可复用的点位数据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999203" y="595859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▲ </a:t>
            </a: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关节角度命令模块软件界面示意图</a:t>
            </a:r>
            <a:endParaRPr lang="en-US" sz="11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130" y="2039327"/>
            <a:ext cx="6586146" cy="379972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D9091DF-9C02-C346-39B7-394A72AC526D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E69C1CD-72E2-43B0-CCCB-D71D369431CD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E232D5C6-F3D4-B17B-B63B-C70154856857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、核心操作模块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212805C9-4121-6B18-D2FD-057AE0351486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3.3</a:t>
            </a:r>
            <a:r>
              <a:rPr kumimoji="1" lang="zh-CN" altLang="en-US" sz="2400" b="1" dirty="0"/>
              <a:t> 关节角度命令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75700A-A32D-740F-277E-2F3FDBF57343}"/>
              </a:ext>
            </a:extLst>
          </p:cNvPr>
          <p:cNvSpPr txBox="1"/>
          <p:nvPr/>
        </p:nvSpPr>
        <p:spPr>
          <a:xfrm>
            <a:off x="5791399" y="1577662"/>
            <a:ext cx="5495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通过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运行命令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将机器人机械臂移动到目标物理位置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E83C412A-C582-D308-D815-0EED70CB701F}"/>
              </a:ext>
            </a:extLst>
          </p:cNvPr>
          <p:cNvSpPr/>
          <p:nvPr/>
        </p:nvSpPr>
        <p:spPr>
          <a:xfrm>
            <a:off x="508000" y="4009662"/>
            <a:ext cx="4484130" cy="1488936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>
              <a:defRPr/>
            </a:pPr>
            <a:endParaRPr dirty="0"/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243E01C3-F84D-0A80-79AD-3E6B6E53D4B9}"/>
              </a:ext>
            </a:extLst>
          </p:cNvPr>
          <p:cNvSpPr/>
          <p:nvPr/>
        </p:nvSpPr>
        <p:spPr>
          <a:xfrm>
            <a:off x="762000" y="4009662"/>
            <a:ext cx="3810000" cy="14889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altLang="zh-CN" sz="19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1900" b="1" i="0" u="none" strike="noStrike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 </a:t>
            </a:r>
            <a:r>
              <a:rPr lang="en-US" altLang="zh-CN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添加点位</a:t>
            </a:r>
            <a:r>
              <a:rPr lang="en-US" altLang="zh-CN" sz="1900" b="1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</a:t>
            </a:r>
            <a:r>
              <a:rPr lang="en-US" altLang="zh-CN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手动输入</a:t>
            </a:r>
            <a:r>
              <a:rPr lang="en-US" altLang="zh-CN" sz="1900" b="1" dirty="0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无需物理移动机器人，直接在软件界面输入框中填写各轴关节的目标角度数值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点击“添加”后即可将其加入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点位列表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1858665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2112665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524000" y="2087265"/>
            <a:ext cx="3937000" cy="15826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删除点位</a:t>
            </a:r>
            <a:endParaRPr lang="en-US" sz="1100" dirty="0"/>
          </a:p>
          <a:p>
            <a:pPr indent="0" algn="l">
              <a:lnSpc>
                <a:spcPct val="150000"/>
              </a:lnSpc>
              <a:spcBef>
                <a:spcPts val="1200"/>
              </a:spcBef>
            </a:pP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从点位列表中选中想要删除的点位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点击“删除”按钮，在弹出的确认框中确认操作即可完成删除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508000" y="4144665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000" y="4398665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1524000" y="4373264"/>
            <a:ext cx="3937000" cy="1570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运行点位</a:t>
            </a:r>
            <a:endParaRPr lang="en-US" sz="1100" dirty="0"/>
          </a:p>
          <a:p>
            <a:pPr indent="0" algn="l">
              <a:lnSpc>
                <a:spcPct val="150000"/>
              </a:lnSpc>
              <a:spcBef>
                <a:spcPts val="1200"/>
              </a:spcBef>
            </a:pP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选择目标点位并设置运动参数（速度、加速度</a:t>
            </a: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点击“运行”按钮执行，支持单点运行</a:t>
            </a:r>
            <a:endParaRPr lang="en-US" sz="13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7260" y="1917085"/>
            <a:ext cx="5872480" cy="338836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93D10ECE-BE6D-A26F-3A7E-340A35BF34CE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4F6534F-433A-F5A2-56BE-1B052693BAE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96FDD93C-A0CE-2EBB-6B33-B013F8398C43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、核心操作模块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C7C9D80E-F4D3-EB14-2B09-AF683DBDCEE8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3.3</a:t>
            </a:r>
            <a:r>
              <a:rPr kumimoji="1" lang="zh-CN" altLang="en-US" sz="2400" b="1" dirty="0"/>
              <a:t> 关节角度命令</a:t>
            </a:r>
          </a:p>
        </p:txBody>
      </p:sp>
      <p:sp>
        <p:nvSpPr>
          <p:cNvPr id="20" name="AutoShape 11">
            <a:extLst>
              <a:ext uri="{FF2B5EF4-FFF2-40B4-BE49-F238E27FC236}">
                <a16:creationId xmlns:a16="http://schemas.microsoft.com/office/drawing/2014/main" id="{36D28D18-BCD1-DFCD-9EE7-C908FA196FB4}"/>
              </a:ext>
            </a:extLst>
          </p:cNvPr>
          <p:cNvSpPr/>
          <p:nvPr/>
        </p:nvSpPr>
        <p:spPr>
          <a:xfrm>
            <a:off x="6413500" y="5551957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▲ </a:t>
            </a: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关节角度命令模块软件界面示意图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5">
            <a:extLst>
              <a:ext uri="{FF2B5EF4-FFF2-40B4-BE49-F238E27FC236}">
                <a16:creationId xmlns:a16="http://schemas.microsoft.com/office/drawing/2014/main" id="{7012ACF4-6657-A9DD-945C-E4A967C342B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484129" y="3130550"/>
            <a:ext cx="3223741" cy="2908548"/>
          </a:xfrm>
          <a:prstGeom prst="roundRect">
            <a:avLst>
              <a:gd name="adj" fmla="val 484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508000" y="3130550"/>
            <a:ext cx="3223741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2000" y="3300596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397000" y="3338696"/>
            <a:ext cx="216174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数据显示按钮</a:t>
            </a:r>
            <a:endParaRPr lang="en-US" sz="1100" dirty="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762000" y="3981450"/>
            <a:ext cx="2796746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切换显示格式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sz="130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点击此按钮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支持关节角度与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速度，力矩等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快速切换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显示</a:t>
            </a:r>
            <a:endParaRPr lang="en-US" sz="11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6"/>
          <a:srcRect t="208" r="110" b="80123"/>
          <a:stretch>
            <a:fillRect/>
          </a:stretch>
        </p:blipFill>
        <p:spPr>
          <a:xfrm>
            <a:off x="505254" y="1403076"/>
            <a:ext cx="11181492" cy="1270183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2B4BCAD7-016B-1B5F-C3B6-9D4A972C4102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3C0BFAD-CE6C-7280-FC08-CB9463ED24AB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9" name="AutoShape 3">
              <a:extLst>
                <a:ext uri="{FF2B5EF4-FFF2-40B4-BE49-F238E27FC236}">
                  <a16:creationId xmlns:a16="http://schemas.microsoft.com/office/drawing/2014/main" id="{849F1E68-4554-A6C9-3583-C883E3594F46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AutoShape 7">
            <a:extLst>
              <a:ext uri="{FF2B5EF4-FFF2-40B4-BE49-F238E27FC236}">
                <a16:creationId xmlns:a16="http://schemas.microsoft.com/office/drawing/2014/main" id="{3664DFDE-CC3E-737B-A692-104F0EAA142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373129" y="3338696"/>
            <a:ext cx="216174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软急停操作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4" name="AutoShape 8">
            <a:extLst>
              <a:ext uri="{FF2B5EF4-FFF2-40B4-BE49-F238E27FC236}">
                <a16:creationId xmlns:a16="http://schemas.microsoft.com/office/drawing/2014/main" id="{871B9526-E9F2-16A8-37F7-21336133E18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38129" y="3981450"/>
            <a:ext cx="2796746" cy="20576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50000"/>
              </a:lnSpc>
              <a:defRPr/>
            </a:pPr>
            <a:r>
              <a:rPr lang="en-US" altLang="zh-CN" sz="1300" b="1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软件急停功能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在无法触及物理急停按钮时的备用安全措施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300" b="1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急停</a:t>
            </a:r>
            <a:r>
              <a:rPr lang="zh-CN" altLang="en-US" sz="1300" b="1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复位</a:t>
            </a:r>
            <a:r>
              <a:rPr lang="en-US" altLang="zh-CN" sz="1300" b="1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Reset复位功能，解决急停后快速恢复设备待机状态的需求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乘 24">
            <a:extLst>
              <a:ext uri="{FF2B5EF4-FFF2-40B4-BE49-F238E27FC236}">
                <a16:creationId xmlns:a16="http://schemas.microsoft.com/office/drawing/2014/main" id="{F9CE6179-169C-57E3-1855-1DACD7EE9DCF}"/>
              </a:ext>
            </a:extLst>
          </p:cNvPr>
          <p:cNvSpPr/>
          <p:nvPr/>
        </p:nvSpPr>
        <p:spPr>
          <a:xfrm>
            <a:off x="4738129" y="3300596"/>
            <a:ext cx="462005" cy="462005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711CE908-5652-7FBF-47B7-F5D715F6A67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460259" y="3130550"/>
            <a:ext cx="3223741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7">
            <a:extLst>
              <a:ext uri="{FF2B5EF4-FFF2-40B4-BE49-F238E27FC236}">
                <a16:creationId xmlns:a16="http://schemas.microsoft.com/office/drawing/2014/main" id="{599D277B-FE9C-6DA6-BF77-5711DAE3E6B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349259" y="3319646"/>
            <a:ext cx="216174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4370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更多功能</a:t>
            </a:r>
            <a:endParaRPr lang="en-US" sz="1100" dirty="0">
              <a:solidFill>
                <a:srgbClr val="4370C1"/>
              </a:solidFill>
            </a:endParaRPr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2F91D31F-CABC-562B-2F7E-393B34B9EDC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714259" y="3981450"/>
            <a:ext cx="2796746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功能列表</a:t>
            </a:r>
            <a:r>
              <a:rPr lang="en-US" sz="1300" b="1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sz="1300" dirty="0" err="1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动力学</a:t>
            </a:r>
            <a:r>
              <a:rPr lang="en-US" altLang="zh-CN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运动学设置、</a:t>
            </a:r>
            <a:r>
              <a:rPr 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CAN/485通讯测试</a:t>
            </a:r>
            <a:r>
              <a:rPr lang="zh-CN" alt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IMU</a:t>
            </a:r>
            <a:r>
              <a:rPr lang="zh-CN" alt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计算、传感器</a:t>
            </a:r>
            <a:r>
              <a:rPr lang="en-US" altLang="zh-CN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dirty="0">
                <a:solidFill>
                  <a:srgbClr val="495057"/>
                </a:solidFill>
                <a:ea typeface="Noto Sans SC" panose="020B0200000000000000" charset="-122"/>
                <a:sym typeface="Noto Sans SC" panose="020B0200000000000000" charset="-122"/>
              </a:rPr>
              <a:t>编码器信息、运动规划、系统升级等</a:t>
            </a:r>
            <a:endParaRPr lang="en-US" altLang="zh-CN" sz="1300" dirty="0">
              <a:solidFill>
                <a:srgbClr val="495057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立方体 29">
            <a:extLst>
              <a:ext uri="{FF2B5EF4-FFF2-40B4-BE49-F238E27FC236}">
                <a16:creationId xmlns:a16="http://schemas.microsoft.com/office/drawing/2014/main" id="{7D3F5442-88B3-20BE-118A-0B6413A6AC74}"/>
              </a:ext>
            </a:extLst>
          </p:cNvPr>
          <p:cNvSpPr/>
          <p:nvPr/>
        </p:nvSpPr>
        <p:spPr>
          <a:xfrm>
            <a:off x="8714259" y="3300596"/>
            <a:ext cx="419100" cy="419100"/>
          </a:xfrm>
          <a:prstGeom prst="cube">
            <a:avLst/>
          </a:prstGeom>
          <a:ln w="9525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491067" y="1593055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45067" y="2024855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380067" y="1593053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CAN/485设置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通过末端</a:t>
            </a:r>
            <a:r>
              <a:rPr lang="en-US" altLang="zh-CN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8PIN</a:t>
            </a: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接头与其他设备通信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3598393" y="1593055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852393" y="2024855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4487393" y="1593053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IMU</a:t>
            </a: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计算不同</a:t>
            </a:r>
            <a:r>
              <a:rPr lang="en-US" altLang="zh-CN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IMU</a:t>
            </a: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安装方式下的旋转角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491067" y="3244055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45067" y="3675855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380067" y="3244054"/>
            <a:ext cx="1651000" cy="1269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</a:t>
            </a:r>
            <a:r>
              <a:rPr lang="en-US" altLang="zh-CN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进行传感器</a:t>
            </a:r>
            <a:r>
              <a:rPr lang="en-US" altLang="zh-CN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编码器零点校准及错误</a:t>
            </a:r>
            <a:r>
              <a:rPr lang="zh-CN" altLang="en-US" sz="1200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清除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3598393" y="3244055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852393" y="3675855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4487393" y="3244055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运动规划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zh-CN" altLang="en-US" sz="12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进行关节空间和笛卡尔空间的规划，并运行规划轨迹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491067" y="4895055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45067" y="5326855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1380067" y="4895053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动力学</a:t>
            </a:r>
            <a:r>
              <a:rPr lang="en-US" altLang="zh-CN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6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运动学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设置动力学和运动学参数</a:t>
            </a:r>
            <a:r>
              <a:rPr lang="zh-CN" altLang="en-US" sz="1200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，目前仅支持双臂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3598393" y="4895055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852393" y="5326855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18"/>
            </p:custDataLst>
          </p:nvPr>
        </p:nvSpPr>
        <p:spPr>
          <a:xfrm>
            <a:off x="4487393" y="4895053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查看软件当前版本号、版权声明及许可信息，确保合规使用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EBB456E-6403-4F60-2687-15AE2B19EFAB}"/>
              </a:ext>
            </a:extLst>
          </p:cNvPr>
          <p:cNvGrpSpPr/>
          <p:nvPr/>
        </p:nvGrpSpPr>
        <p:grpSpPr>
          <a:xfrm>
            <a:off x="-16933" y="0"/>
            <a:ext cx="12192000" cy="900113"/>
            <a:chOff x="0" y="-1"/>
            <a:chExt cx="12192000" cy="9001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EE481DF-B444-7BA5-1389-C924554A5915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8" name="AutoShape 3">
              <a:extLst>
                <a:ext uri="{FF2B5EF4-FFF2-40B4-BE49-F238E27FC236}">
                  <a16:creationId xmlns:a16="http://schemas.microsoft.com/office/drawing/2014/main" id="{33A4F235-D4CB-D858-949D-1252130B3B4F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AutoShape 20">
            <a:extLst>
              <a:ext uri="{FF2B5EF4-FFF2-40B4-BE49-F238E27FC236}">
                <a16:creationId xmlns:a16="http://schemas.microsoft.com/office/drawing/2014/main" id="{BE4DC116-4395-421F-2EF7-22BB10630DAE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699939" y="4895055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1" descr="齿轮 纯色填充">
            <a:extLst>
              <a:ext uri="{FF2B5EF4-FFF2-40B4-BE49-F238E27FC236}">
                <a16:creationId xmlns:a16="http://schemas.microsoft.com/office/drawing/2014/main" id="{C8B93D07-0203-7689-6F59-FAE3AD398E92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6953939" y="5326855"/>
            <a:ext cx="406400" cy="406400"/>
          </a:xfrm>
          <a:prstGeom prst="rect">
            <a:avLst/>
          </a:prstGeom>
        </p:spPr>
      </p:pic>
      <p:sp>
        <p:nvSpPr>
          <p:cNvPr id="29" name="AutoShape 22">
            <a:extLst>
              <a:ext uri="{FF2B5EF4-FFF2-40B4-BE49-F238E27FC236}">
                <a16:creationId xmlns:a16="http://schemas.microsoft.com/office/drawing/2014/main" id="{DC1A01E9-FCF7-2C11-69A5-4631B3245F8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588939" y="4895053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配置IP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支持修改机器人IP地址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20">
            <a:extLst>
              <a:ext uri="{FF2B5EF4-FFF2-40B4-BE49-F238E27FC236}">
                <a16:creationId xmlns:a16="http://schemas.microsoft.com/office/drawing/2014/main" id="{E85AA5F2-27C6-FE7E-DEBC-4E10E1A36D58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699939" y="1595801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21" descr="机器人 纯色填充">
            <a:extLst>
              <a:ext uri="{FF2B5EF4-FFF2-40B4-BE49-F238E27FC236}">
                <a16:creationId xmlns:a16="http://schemas.microsoft.com/office/drawing/2014/main" id="{DFE3E307-D51D-FDF2-156A-1E23174FB1DF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6953939" y="2027601"/>
            <a:ext cx="406400" cy="406400"/>
          </a:xfrm>
          <a:prstGeom prst="rect">
            <a:avLst/>
          </a:prstGeom>
        </p:spPr>
      </p:pic>
      <p:sp>
        <p:nvSpPr>
          <p:cNvPr id="36" name="AutoShape 22">
            <a:extLst>
              <a:ext uri="{FF2B5EF4-FFF2-40B4-BE49-F238E27FC236}">
                <a16:creationId xmlns:a16="http://schemas.microsoft.com/office/drawing/2014/main" id="{CBCBAE00-84BF-7AA1-80EB-A8D843A3BFAD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7588939" y="1595799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JOG点动控制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鼠标点击即可控制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20">
            <a:extLst>
              <a:ext uri="{FF2B5EF4-FFF2-40B4-BE49-F238E27FC236}">
                <a16:creationId xmlns:a16="http://schemas.microsoft.com/office/drawing/2014/main" id="{0EA2FEFA-0879-1352-F81A-54C5D9A811DB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6687582" y="3301034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21" descr="齿轮 纯色填充">
            <a:extLst>
              <a:ext uri="{FF2B5EF4-FFF2-40B4-BE49-F238E27FC236}">
                <a16:creationId xmlns:a16="http://schemas.microsoft.com/office/drawing/2014/main" id="{0AB9CDED-7D57-74D2-74D1-96B9FA529032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6941582" y="3732834"/>
            <a:ext cx="406400" cy="406400"/>
          </a:xfrm>
          <a:prstGeom prst="rect">
            <a:avLst/>
          </a:prstGeom>
        </p:spPr>
      </p:pic>
      <p:sp>
        <p:nvSpPr>
          <p:cNvPr id="23" name="AutoShape 22">
            <a:extLst>
              <a:ext uri="{FF2B5EF4-FFF2-40B4-BE49-F238E27FC236}">
                <a16:creationId xmlns:a16="http://schemas.microsoft.com/office/drawing/2014/main" id="{49036CF5-65C7-1D78-9009-39EA75CA9A52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576582" y="3301032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dirty="0" err="1">
                <a:solidFill>
                  <a:srgbClr val="343A40"/>
                </a:solidFill>
                <a:ea typeface="Noto Sans SC" panose="020B0200000000000000" charset="-122"/>
                <a:sym typeface="Noto Sans SC" panose="020B0200000000000000" charset="-122"/>
              </a:rPr>
              <a:t>负载辨识</a:t>
            </a:r>
            <a:endParaRPr lang="en-US" sz="1100" dirty="0"/>
          </a:p>
          <a:p>
            <a:pPr indent="0" algn="l">
              <a:lnSpc>
                <a:spcPct val="150000"/>
              </a:lnSpc>
            </a:pPr>
            <a:r>
              <a:rPr lang="en-US" sz="1200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支持辨识负载的力</a:t>
            </a:r>
            <a:endParaRPr lang="en-US" sz="1200" b="0" i="0" u="none" strike="noStrike" dirty="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A4C2D-5734-C154-85DC-FBC50304E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979BE18-9250-1BA5-D66D-366F81C5E0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4F18DA4-C043-2F82-A35C-8A79425671E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8000" y="1810243"/>
            <a:ext cx="10922000" cy="1488936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7AF5B3A-1001-54E0-5D4F-3CBBE07412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62000" y="1810243"/>
            <a:ext cx="10347278" cy="14889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参数编写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Dynamics 10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个参数分别为工具质量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M，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相对于末端法兰盘中心的质心位置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Mx,My,Mz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惯量积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Ixx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lxy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ly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lz</a:t>
            </a:r>
            <a:r>
              <a:rPr lang="en-US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设置该参数从而提供高可靠的阻抗功能，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Kinematics6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个参数分别为工具坐标系相对于末端法兰盘坐标系的位姿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Rx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Rx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Ry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X-Y-Z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欧拉角，设置该参数从而可以关注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的运动，方便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FK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IK，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完成任务</a:t>
            </a:r>
            <a:endParaRPr 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F3B929E-E677-8459-15F5-D086F0E2DB1D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D6C6482-9596-3EB4-A9E8-E8B4C45A787A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445DC064-78C7-D8E5-A0E6-8B0FB39D8966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F54C26AA-4695-5BF7-3DA9-6B39E5A2F50E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4.1</a:t>
            </a:r>
            <a:r>
              <a:rPr kumimoji="1" lang="zh-CN" altLang="en-US" sz="2400" b="1" dirty="0"/>
              <a:t> 动力学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运动学参数设置</a:t>
            </a:r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8DC031D-2847-C00C-BEDE-F90309063A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048" y="3558822"/>
            <a:ext cx="10809903" cy="313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69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39237-8120-5714-2F43-4E192136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A058CF2-750F-48C8-5CF3-1EEB90CB05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8FE98F3-98D9-5A37-1137-3C11FB8039E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8000" y="4994037"/>
            <a:ext cx="10922000" cy="1488936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FB73265-D203-C566-DA05-581CA696D4F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62000" y="4994037"/>
            <a:ext cx="10347278" cy="14889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操作步骤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点击末端透传按钮，选择串口（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CAN/COM1/COM2，COM1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COM2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485 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CH1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485 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CH2）；②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</a:t>
            </a:r>
            <a:r>
              <a:rPr 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HEX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数据，左右臂加指令，下拉列表查看历史指令；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左右臂发送数据，接受内容框显示接受数据；内容框可编辑。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左右臂接收数据。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34B6DD1-3460-11BD-68AA-5BFF53A24AA0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C3628A3-EE48-8317-2411-7D5AEE7BCAD2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13383255-51BE-5C6F-72C9-EFF80B47A009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89CC60EC-83C4-722E-4189-787A2FB9F93A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4.2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CAN/485</a:t>
            </a:r>
            <a:endParaRPr kumimoji="1" lang="zh-CN" altLang="en-US" sz="2400" b="1" dirty="0"/>
          </a:p>
        </p:txBody>
      </p:sp>
      <p:pic>
        <p:nvPicPr>
          <p:cNvPr id="9" name="图片 8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B4A8B375-2299-40A4-199C-0D1F660E68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2872"/>
          <a:stretch>
            <a:fillRect/>
          </a:stretch>
        </p:blipFill>
        <p:spPr>
          <a:xfrm>
            <a:off x="508000" y="2072529"/>
            <a:ext cx="10922000" cy="243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65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B29FA-9960-5646-AA71-2F901E43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5039E9E-F796-0937-D8AE-9CB478E292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9C98AAE-E0C9-EFB4-56EC-52E021B1A1A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88184" y="1581162"/>
            <a:ext cx="4741816" cy="1658774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8D2CD9C-5A94-6C84-E01D-C8CAA520B7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974117" y="1581160"/>
            <a:ext cx="4199867" cy="16587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传感器重置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首次启动控制器并连接控制器后，在机器人的机械零点位置时，切换查看 “传感器数据”，如果机器人传感器反馈数值和理论数值不一致，应进行传感器重置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CDCFA9B-5C38-5038-2CBF-2E81EF9D54F1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EA7473C-72A1-7DBC-9C8D-EF45764BBF73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1F63E238-B68C-CFC4-9A04-C0CB44750C4B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D0DC5F16-CD66-148E-3370-0C37ABFA1D51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4.3</a:t>
            </a:r>
            <a:r>
              <a:rPr kumimoji="1" lang="zh-CN" altLang="en-US" sz="2400" b="1" dirty="0"/>
              <a:t> 传感器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编码器</a:t>
            </a:r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A338F95C-BB5C-A9B1-37C9-19528227915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0083"/>
          <a:stretch>
            <a:fillRect/>
          </a:stretch>
        </p:blipFill>
        <p:spPr>
          <a:xfrm>
            <a:off x="508001" y="1800542"/>
            <a:ext cx="5958114" cy="4601718"/>
          </a:xfrm>
          <a:prstGeom prst="rect">
            <a:avLst/>
          </a:prstGeom>
        </p:spPr>
      </p:pic>
      <p:sp>
        <p:nvSpPr>
          <p:cNvPr id="7" name="AutoShape 4">
            <a:extLst>
              <a:ext uri="{FF2B5EF4-FFF2-40B4-BE49-F238E27FC236}">
                <a16:creationId xmlns:a16="http://schemas.microsoft.com/office/drawing/2014/main" id="{7AB4EBDB-3207-B745-FE86-C3F966D8D44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688184" y="3429001"/>
            <a:ext cx="4741816" cy="1392097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1A07C873-6822-0D04-B06E-D3F564C148C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974117" y="3429001"/>
            <a:ext cx="4199867" cy="139209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编码器清零和清错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日常调试中注意零点编码器值是否正常，如不正常，机械臂应回到机械零点位置后，进行内外编码器清零和清错。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4701754-E082-0FCB-667D-E4C41D68098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688184" y="5010163"/>
            <a:ext cx="4741816" cy="1392097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52E6C4C9-C70E-B279-A20E-426C01B98B8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974117" y="5010162"/>
            <a:ext cx="4199867" cy="139209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取消软限位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允许对各机械单位进行关节限位解除，仅能在下使能情况下使用。再一次上使能时，软限位将重新生效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9756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E5C8A-A837-2285-B4C3-25D29768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4D84AF6-BE15-5D12-1B42-04039DBE6F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9A75278-894F-DD3E-F1B8-71BF7FA83087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2BD1834-32B0-26A0-889B-96E694EB8DBB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1310D5DA-9D9E-D671-8871-188EE448E47E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CA6AA3E2-CD42-9EDB-1BDE-57DDBAB71E1D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4.4.1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关节空间运动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1851EFA-5E3E-4EA5-5625-5D7E3465211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4644" y="4189295"/>
            <a:ext cx="5226373" cy="2383969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5013AE9-EE6E-43E8-64F3-66497653BFD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28515" y="4403895"/>
            <a:ext cx="4649031" cy="19526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核心原理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不控制末端走直线，直接对各电机关节角度做插值运动，每个轴独立匀速转动，末端轨迹是曲线，速度快、计算简单，适合大范围快速移位。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8425AFD6-BA70-91E7-D6CF-F713E4674ED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016" b="74791"/>
          <a:stretch>
            <a:fillRect/>
          </a:stretch>
        </p:blipFill>
        <p:spPr>
          <a:xfrm>
            <a:off x="521505" y="1693242"/>
            <a:ext cx="11148989" cy="2383971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CFF82AD1-91AF-85D0-C3DE-77EC69AFBB6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254888" y="4189295"/>
            <a:ext cx="5226373" cy="238397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7D225D5F-2A26-1C14-A7A1-303EF7F205F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568759" y="4403894"/>
            <a:ext cx="4649031" cy="195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dirty="0" err="1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参数说明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joints</a:t>
            </a:r>
            <a:r>
              <a:rPr lang="zh-CN" altLang="e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运动起始的 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 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个关节角度，</a:t>
            </a:r>
            <a:r>
              <a:rPr lang="en" altLang="zh-CN" sz="13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GetCur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一键读取机器人当前实时关节角度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End joints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目标关节角度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Freq 50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运动控制周期 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</a:t>
            </a: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Hz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备注代表频率上限规则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Vel / Acc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关节空间速度、加速度</a:t>
            </a:r>
          </a:p>
        </p:txBody>
      </p:sp>
    </p:spTree>
    <p:extLst>
      <p:ext uri="{BB962C8B-B14F-4D97-AF65-F5344CB8AC3E}">
        <p14:creationId xmlns:p14="http://schemas.microsoft.com/office/powerpoint/2010/main" val="629167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9805A-77AE-F57D-DD61-C811F638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6CB955A-0F78-2ECA-5B71-99547871F0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258C1FB-CE3F-0757-1F5F-E27372994CCF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AEBADD4-A839-F3D3-AF2E-F48EF664132C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A4E69AB0-14C5-A381-BB4B-55F1EEDFB6DF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3A814F85-F498-E9BB-6AB6-505F4BB1328B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4.4.2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笛卡尔空间运动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CD088E2-7928-D98E-18BC-8A7C36EF40F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4644" y="4390153"/>
            <a:ext cx="10715356" cy="154921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2AC6B7AC-EDD2-64D3-0BA0-C5016A2BA4E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28515" y="4604753"/>
            <a:ext cx="10052773" cy="13346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Joints to joints (linear)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关节点位映射笛卡尔直线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输入起点、终点关节角度，控制器自动逆解，保证机械臂末端 </a:t>
            </a: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 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工具走空间直线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Vel 100 / Acc 100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：笛卡尔空间速度加速度，量程 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1~1000</a:t>
            </a:r>
            <a:endParaRPr lang="zh-CN" altLang="en-US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E0D5EE54-5520-C7B7-BEB2-797A045E8F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9" t="24425" r="1896" b="52192"/>
          <a:stretch>
            <a:fillRect/>
          </a:stretch>
        </p:blipFill>
        <p:spPr>
          <a:xfrm>
            <a:off x="521505" y="1693242"/>
            <a:ext cx="11148989" cy="221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60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EE04E-9A4A-2290-548D-01719034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1D8D34E-16F3-7F55-28A3-F314136373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CF3DDEC-C1AB-0A34-815D-078DD7C6E736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7FC13E0-EDAF-724F-FE11-D279274373BD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2435CE83-FAF4-037D-B5C9-B02502575750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D5F6DB05-B02F-5979-FC2E-0707A481BB8B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4.4.3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笛卡尔空间运动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E8B8D19-E850-1A1C-A2DE-982342C1B0E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33993" y="4649491"/>
            <a:ext cx="6819684" cy="1944923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B10509C0-CE4B-8D1D-5BF2-771E43F7E7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067946" y="4649491"/>
            <a:ext cx="6037020" cy="19449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XYZABC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：直线起点末端坐标姿态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End XYZABC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直线终点末端坐标姿态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Ref joints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对应点位的参考关节角度，可通过</a:t>
            </a:r>
            <a:r>
              <a:rPr lang="en" altLang="zh-CN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GetCur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读取当前点位匹配的关节值</a:t>
            </a:r>
          </a:p>
        </p:txBody>
      </p:sp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780775D3-99A3-584D-4E87-7AA47E72B8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9" t="47124" r="1896" b="24358"/>
          <a:stretch>
            <a:fillRect/>
          </a:stretch>
        </p:blipFill>
        <p:spPr>
          <a:xfrm>
            <a:off x="521505" y="1693242"/>
            <a:ext cx="11148989" cy="269691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D0792D2-1710-6EAD-F61A-59F8A80ECE99}"/>
              </a:ext>
            </a:extLst>
          </p:cNvPr>
          <p:cNvSpPr txBox="1"/>
          <p:nvPr/>
        </p:nvSpPr>
        <p:spPr>
          <a:xfrm>
            <a:off x="508000" y="4877724"/>
            <a:ext cx="3794774" cy="13412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" altLang="zh-CN" sz="20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Linear </a:t>
            </a:r>
            <a:r>
              <a:rPr lang="zh-CN" altLang="en-US" sz="20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单段笛卡尔直线插补</a:t>
            </a:r>
            <a:endParaRPr lang="en-US" altLang="zh-CN" sz="12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zh-CN" altLang="en-US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直接输入末端位姿 </a:t>
            </a:r>
            <a:r>
              <a:rPr lang="en" altLang="zh-C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XYZABC</a:t>
            </a:r>
            <a:r>
              <a:rPr lang="zh-CN" altLang="e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" altLang="zh-C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X/Y/Z </a:t>
            </a:r>
            <a:r>
              <a:rPr lang="zh-CN" altLang="en-US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空间坐标 </a:t>
            </a:r>
            <a:r>
              <a:rPr lang="en-US" altLang="zh-C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 </a:t>
            </a:r>
            <a:r>
              <a:rPr lang="en" altLang="zh-CN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A/B/C </a:t>
            </a:r>
            <a:r>
              <a:rPr lang="zh-CN" altLang="en-US" sz="14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欧拉角姿态），两点之间走标准空间直线，姿态同步平滑过渡</a:t>
            </a:r>
          </a:p>
        </p:txBody>
      </p:sp>
    </p:spTree>
    <p:extLst>
      <p:ext uri="{BB962C8B-B14F-4D97-AF65-F5344CB8AC3E}">
        <p14:creationId xmlns:p14="http://schemas.microsoft.com/office/powerpoint/2010/main" val="1184220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08ACD-F163-63DD-632A-39D40FB1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F3FC27-A99D-CA59-768D-87C8FD218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BD17F7A-AD54-3560-A8F5-60C793BDA4F8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27B01F1-8ECD-A176-8A02-C9FF8B518E9A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152BD0B8-A353-193D-86F9-CE587F05F0A3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3BDEF573-B71D-A8F2-B149-B49FD919202F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4.4.4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笛卡尔空间运动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76DE1A3-DFE8-4D5A-E745-AEF696C1948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502617" y="4366126"/>
            <a:ext cx="7951060" cy="2228289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2D82176A-2999-CBCC-8250-C83753A17E4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5559" b="33435"/>
          <a:stretch>
            <a:fillRect/>
          </a:stretch>
        </p:blipFill>
        <p:spPr>
          <a:xfrm>
            <a:off x="605740" y="1795760"/>
            <a:ext cx="10945678" cy="2355766"/>
          </a:xfrm>
          <a:prstGeom prst="rect">
            <a:avLst/>
          </a:prstGeom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984F6E58-8439-DC19-776D-431EF3F2E20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797085" y="4366125"/>
            <a:ext cx="7361695" cy="22282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joints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：整条轨迹的初始起点关节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Add XYZABC + Add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按钮：输入点位后点击 </a:t>
            </a: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Add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追加到轨迹列表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All points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下拉框查看所有已存入的轨迹点位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Allow Range 5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：点位到达允许误差阈值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ZSP Type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ZSP Params [0,0,-1,0,0,0]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：零空间类型 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零空间参数，约束手臂使得</a:t>
            </a: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关节的角度尽量靠近零，然后使得手臂尽可能伸直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9226CD31-F39B-929E-3A7F-E7C05A8BBE6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5740" y="4366125"/>
            <a:ext cx="2726810" cy="22282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Linear (multi-segment) 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多段连续直线</a:t>
            </a:r>
            <a:endParaRPr lang="en-US" sz="1100" dirty="0"/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用于连续多拐点作业，可依次添加多个点位，机械臂连续走完整条折线，不用分段点 </a:t>
            </a: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</a:t>
            </a:r>
            <a:endParaRPr lang="zh-CN" altLang="en-US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8229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B0D5E-671F-9BAE-A4CC-226D7AD4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68A8056-5485-84BF-0A22-930D4CA3B2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9991731-0705-4BA6-6FC4-C6206FDCE710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A98C9C3-F98E-FC49-82ED-7EB04BD0FEC0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2C94FF3-1594-5999-5262-736B2BA28DBE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、工具操作区 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 更多功能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12957926-E7C6-8553-49BB-62E20AFCA320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4.4.5</a:t>
            </a:r>
            <a:r>
              <a:rPr kumimoji="1" lang="zh-CN" altLang="en-US" sz="2400" b="1" dirty="0"/>
              <a:t> 运动规划 </a:t>
            </a:r>
            <a:r>
              <a:rPr kumimoji="1" lang="en-US" altLang="zh-CN" sz="2400" b="1" dirty="0"/>
              <a:t>-</a:t>
            </a:r>
            <a:r>
              <a:rPr kumimoji="1" lang="zh-CN" altLang="en-US" sz="2400" b="1" dirty="0"/>
              <a:t> 笛卡尔空间运动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950C9BD-9EC5-6C4D-A567-EF81D734A83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819973" y="4366126"/>
            <a:ext cx="6633704" cy="2228289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83E555F5-0D97-08BD-AB58-0902E2102F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7712" b="1282"/>
          <a:stretch>
            <a:fillRect/>
          </a:stretch>
        </p:blipFill>
        <p:spPr>
          <a:xfrm>
            <a:off x="605740" y="1795760"/>
            <a:ext cx="10945678" cy="2355766"/>
          </a:xfrm>
          <a:prstGeom prst="rect">
            <a:avLst/>
          </a:prstGeom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FA3115ED-3E8C-FC08-3F25-E911947C10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193238" y="4366125"/>
            <a:ext cx="5965542" cy="22282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joints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：双臂各自起始关节角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XYZABC</a:t>
            </a:r>
            <a:r>
              <a:rPr lang="zh-CN" altLang="e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双臂起始笛卡尔位姿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End XYZABC</a:t>
            </a:r>
            <a:r>
              <a:rPr lang="zh-CN" altLang="en-US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：双臂各自目标终点位姿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-US" altLang="zh-CN" sz="1300" b="0" i="0" u="none" strike="noStrike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ZSP Type/Params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：零空间类型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零空间参数设置</a:t>
            </a:r>
            <a:endParaRPr lang="en-US" altLang="zh-CN" sz="1300" b="0" i="0" u="none" strike="noStrike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68E59D98-DFD8-DD29-230E-FB0C7795FBA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5740" y="4366125"/>
            <a:ext cx="3981758" cy="22282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Arms Synchronous Linear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双臂同步直线运动</a:t>
            </a:r>
            <a:endParaRPr lang="en-US" altLang="zh-CN" sz="1900" b="1" dirty="0">
              <a:solidFill>
                <a:srgbClr val="28A745"/>
              </a:solidFill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Arm0</a:t>
            </a:r>
            <a:r>
              <a:rPr lang="zh-CN" altLang="e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Arm1 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同步启动、同步走完直线，保证双臂运动时序完全对齐（用于协同抓取、对称作业）</a:t>
            </a:r>
          </a:p>
        </p:txBody>
      </p:sp>
    </p:spTree>
    <p:extLst>
      <p:ext uri="{BB962C8B-B14F-4D97-AF65-F5344CB8AC3E}">
        <p14:creationId xmlns:p14="http://schemas.microsoft.com/office/powerpoint/2010/main" val="2507298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E6603-E8E7-2CEC-C57C-C8CDE231D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E519CFE-BF5A-FED0-4B0B-3ED1F735DA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60F43E1-906A-88EC-6A95-DF2DF08A1AA7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A08F9F4-5197-885B-E8EE-11CBB8D760CE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62BFA831-6FEC-F80E-59EB-0B520D2B3C5A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、更新内容：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040701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0D9254FC-21D5-E812-7E10-A59295F23B2F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5.1</a:t>
            </a:r>
            <a:r>
              <a:rPr kumimoji="1" lang="zh-CN" altLang="en-US" sz="2400" b="1" dirty="0"/>
              <a:t> 新增用户反馈采集通道和日志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379AC3D5-1521-622A-E787-1FC2BA72337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5740" y="5047173"/>
            <a:ext cx="10980520" cy="15472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用户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自行订阅机器人内容反馈信号，最多支持 </a:t>
            </a:r>
            <a:r>
              <a:rPr lang="en-US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 通道并行；实时日志</a:t>
            </a:r>
            <a:r>
              <a:rPr lang="en-US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log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显示</a:t>
            </a:r>
            <a:endParaRPr lang="en" altLang="zh-CN" sz="1900" b="1" dirty="0">
              <a:solidFill>
                <a:srgbClr val="28A745"/>
              </a:solidFill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17000"/>
              </a:lnSpc>
              <a:spcBef>
                <a:spcPts val="1000"/>
              </a:spcBef>
            </a:pPr>
            <a:r>
              <a:rPr lang="zh-CN" altLang="e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通道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，选择反馈的类型，点击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set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，即可获取到数据</a:t>
            </a:r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03911B3-5B3B-9ADC-855A-1EE774C600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256"/>
          <a:stretch>
            <a:fillRect/>
          </a:stretch>
        </p:blipFill>
        <p:spPr>
          <a:xfrm>
            <a:off x="605740" y="1696507"/>
            <a:ext cx="10945677" cy="335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24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ACDEC-B7E3-A0FD-2BA6-22B6CCDC9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E7389A3-6548-BAF2-1606-57F5FDCC3D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2B79EFF-74EB-167E-0D29-584F3651E677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2369272-4D80-40E3-09D2-D39048406DA6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8011FFD2-8030-8B47-1642-30E7C3C8C3E6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、更新内容：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040701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4C9AB629-C450-E80B-C91A-E82F8A16E7BC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5.2</a:t>
            </a:r>
            <a:r>
              <a:rPr kumimoji="1" lang="zh-CN" altLang="en-US" sz="2400" b="1" dirty="0"/>
              <a:t> 双臂新增</a:t>
            </a:r>
            <a:r>
              <a:rPr kumimoji="1" lang="en-US" altLang="zh-CN" sz="2400" b="1" dirty="0"/>
              <a:t>JOG</a:t>
            </a:r>
            <a:r>
              <a:rPr kumimoji="1" lang="zh-CN" altLang="en-US" sz="2400" b="1" dirty="0"/>
              <a:t>点动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CDE5201A-F721-9761-AB14-755EFF4D738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447098" y="1581161"/>
            <a:ext cx="5139161" cy="501325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同时支持关节点动和笛卡尔点动</a:t>
            </a:r>
            <a:endParaRPr lang="en-US" altLang="zh-CN" sz="1900" b="1" dirty="0">
              <a:solidFill>
                <a:srgbClr val="28A745"/>
              </a:solidFill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、设置步进角度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距离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、设置运动速度百分比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、设置加减速度百分比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、点击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3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进行步进运动</a:t>
            </a:r>
            <a:endParaRPr lang="en-US" altLang="zh-CN" sz="13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 descr="图形用户界面, 表格, Excel&#10;&#10;AI 生成的内容可能不正确。">
            <a:extLst>
              <a:ext uri="{FF2B5EF4-FFF2-40B4-BE49-F238E27FC236}">
                <a16:creationId xmlns:a16="http://schemas.microsoft.com/office/drawing/2014/main" id="{B8661783-15BE-C55F-C635-E2C617DE0F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1696507"/>
            <a:ext cx="5756381" cy="4897906"/>
          </a:xfrm>
          <a:prstGeom prst="rect">
            <a:avLst/>
          </a:prstGeom>
        </p:spPr>
      </p:pic>
      <p:sp>
        <p:nvSpPr>
          <p:cNvPr id="5" name="AutoShape 6">
            <a:extLst>
              <a:ext uri="{FF2B5EF4-FFF2-40B4-BE49-F238E27FC236}">
                <a16:creationId xmlns:a16="http://schemas.microsoft.com/office/drawing/2014/main" id="{998D88C5-4843-FD7B-00F8-32BA081813B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447098" y="6161180"/>
            <a:ext cx="5139161" cy="433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入口：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More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Features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Jogging</a:t>
            </a:r>
          </a:p>
        </p:txBody>
      </p:sp>
    </p:spTree>
    <p:extLst>
      <p:ext uri="{BB962C8B-B14F-4D97-AF65-F5344CB8AC3E}">
        <p14:creationId xmlns:p14="http://schemas.microsoft.com/office/powerpoint/2010/main" val="4056644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1B489-0776-CF4A-25CE-8C1303D3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6574C10-90A2-A4C7-B3D9-8CCE052996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E76E952-C8FE-1695-C03A-A19D705BDE8F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2CA1F07-F573-4DFD-95A1-88EC2C1A10E7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0E55044F-BFEF-16F9-3F20-76A751F83113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、更新内容：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040701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47E4E195-0DB9-CC88-395D-E01C76A2ABA7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5.3</a:t>
            </a:r>
            <a:r>
              <a:rPr kumimoji="1" lang="zh-CN" altLang="en-US" sz="2400" b="1" dirty="0"/>
              <a:t> 支持末端双向收发报文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88AC5F28-D99F-D755-7316-5C4C2AC2757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32294" y="1696507"/>
            <a:ext cx="4953965" cy="48979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末端灵巧手数据通讯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1200" dirty="0"/>
              <a:t>给机械臂末端（</a:t>
            </a:r>
            <a:r>
              <a:rPr lang="en" altLang="zh-CN" sz="1200" dirty="0"/>
              <a:t>Hand</a:t>
            </a:r>
            <a:r>
              <a:rPr lang="zh-CN" altLang="en" sz="1200" dirty="0"/>
              <a:t>，</a:t>
            </a:r>
            <a:r>
              <a:rPr lang="zh-CN" altLang="en-US" sz="1200" dirty="0"/>
              <a:t>手爪 </a:t>
            </a:r>
            <a:r>
              <a:rPr lang="en-US" altLang="zh-CN" sz="1200" dirty="0"/>
              <a:t>/ </a:t>
            </a:r>
            <a:r>
              <a:rPr lang="zh-CN" altLang="en-US" sz="1200" dirty="0"/>
              <a:t>灵巧手）的底层报文调试工具，直接收发原始十六进制 </a:t>
            </a:r>
            <a:r>
              <a:rPr lang="en-US" altLang="zh-CN" sz="1200" dirty="0"/>
              <a:t>(</a:t>
            </a:r>
            <a:r>
              <a:rPr lang="en" altLang="zh-CN" sz="1200" dirty="0"/>
              <a:t>HEX) </a:t>
            </a:r>
            <a:r>
              <a:rPr lang="zh-CN" altLang="en-US" sz="1200" dirty="0"/>
              <a:t>数据包，</a:t>
            </a:r>
            <a:r>
              <a:rPr lang="en-US" altLang="zh-CN" sz="1200" dirty="0"/>
              <a:t>512 </a:t>
            </a:r>
            <a:r>
              <a:rPr lang="zh-CN" altLang="en-US" sz="1200" dirty="0"/>
              <a:t>字节固定帧长。</a:t>
            </a:r>
            <a:endParaRPr lang="en-US" altLang="zh-CN" sz="1200" dirty="0"/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、点击启动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Hand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arm0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，代表左臂末端手；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arm1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代表右臂末端手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、点击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Send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All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zero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代表全部为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Refresh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按钮代表刷新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、勾选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Auto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refresh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代表自动刷新接收区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serial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：代表显示串口标识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Received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：接收区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200" dirty="0"/>
              <a:t>裸报文调试，绕过</a:t>
            </a:r>
            <a:r>
              <a:rPr lang="en" altLang="zh-CN" sz="1200" dirty="0"/>
              <a:t>SDK </a:t>
            </a:r>
            <a:r>
              <a:rPr lang="zh-CN" altLang="en-US" sz="1200" dirty="0"/>
              <a:t>接口，直接收发原始帧，排查通信协议、时序问题，比较少用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CC11100-7DF2-3942-D12B-D381052C8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1696507"/>
            <a:ext cx="5894756" cy="4897906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75AFC570-D5D8-02D0-3312-C3BB3CA9B1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632294" y="6161180"/>
            <a:ext cx="4953965" cy="433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入口：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More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Features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–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Hand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Data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4012308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55A17-09B2-0334-3FF2-7A4EEA00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994DFF2-5005-A860-8270-CB7395951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0B247DB-FBB5-E7B1-90ED-385D9FE5D7DA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0F018BF-DB1F-62D4-505F-79F73FC422DF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2EECD0E8-D3E8-86DE-2144-1120817FC98A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、更新内容：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040701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D0360E4E-6242-5D38-6226-7865EDAFB8E4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5.4</a:t>
            </a:r>
            <a:r>
              <a:rPr kumimoji="1" lang="zh-CN" altLang="en-US" sz="2400" b="1" dirty="0"/>
              <a:t> 支持双臂末端负载辨识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6624D437-4DD2-1BBA-69DC-8886C328991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951808" y="1696507"/>
            <a:ext cx="3634451" cy="42876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末端负载动力学自动标定工具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1200" dirty="0"/>
              <a:t>运行轨迹文件采集力矩数据，自动算出</a:t>
            </a:r>
            <a:r>
              <a:rPr lang="en-US" altLang="zh-CN" sz="1200" dirty="0"/>
              <a:t>tool</a:t>
            </a:r>
            <a:r>
              <a:rPr lang="zh-CN" altLang="en-US" sz="1200" dirty="0"/>
              <a:t>的质量、质心、惯性张量，一键写入控制器动力学模型，用来提升前馈力矩的准确度。辨识流程：</a:t>
            </a:r>
            <a:endParaRPr lang="en-US" altLang="zh-CN" sz="1200" dirty="0"/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、选择臂，选择</a:t>
            </a:r>
            <a:r>
              <a:rPr lang="en-US" altLang="zh-CN" sz="12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NoLoad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，选择轨迹文件，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Start collecting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，先空载跑一遍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、装上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切换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Load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，再次选择轨迹文件跑一遍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、点击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Identify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按钮，求解出相关参数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Output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：输出框，显示日志窗口信息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dynamic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：工具动力学参数信息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last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result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：将辨识结果拉取到下方输出框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Set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dynamic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：设置写入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endParaRPr lang="zh-CN" altLang="en-US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轨迹路径：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00040701\SDK\00040701\C_SDK\</a:t>
            </a:r>
            <a:r>
              <a:rPr lang="en-US" altLang="zh-CN" sz="12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FXConfig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\</a:t>
            </a:r>
            <a:r>
              <a:rPr lang="en-US" altLang="zh-CN" sz="12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ToolDynIdentData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\</a:t>
            </a:r>
            <a:r>
              <a:rPr lang="en-US" altLang="zh-CN" sz="12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IdenTraj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E811ED3-0027-6A68-121D-6755D806088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951808" y="5984112"/>
            <a:ext cx="3634451" cy="6103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入口：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More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Features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–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Tool Dynamics Identification</a:t>
            </a:r>
          </a:p>
        </p:txBody>
      </p:sp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5130034C-EF65-8D62-689D-F94846549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1696508"/>
            <a:ext cx="7298269" cy="489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50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E455E-1CC5-92D0-FDCB-22929A4A9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4F7CE66-5FD5-22E1-818B-C8C6819976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9DFB550-7522-05D1-4122-4119A6245F11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F72D8A7-65A3-6A29-C922-8F64B5C31156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EF1A2121-0EC9-219D-6370-CACE465B2C03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、更新内容：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040701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EBFD69E5-6649-2B42-9A24-11AEEDD71697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5.5</a:t>
            </a:r>
            <a:r>
              <a:rPr kumimoji="1" lang="zh-CN" altLang="en-US" sz="2400" b="1" dirty="0"/>
              <a:t> </a:t>
            </a:r>
            <a:r>
              <a:rPr kumimoji="1" lang="en" altLang="zh-CN" sz="2400" b="1" dirty="0"/>
              <a:t>IMU</a:t>
            </a:r>
            <a:r>
              <a:rPr kumimoji="1" lang="zh-CN" altLang="en-US" sz="2400" b="1" dirty="0"/>
              <a:t>和浮基监测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103F2F72-DC51-6959-1B19-8B111D89A98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250330" y="1581160"/>
            <a:ext cx="5335930" cy="16597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IMU Data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1200" dirty="0"/>
              <a:t>分两组：</a:t>
            </a:r>
            <a:r>
              <a:rPr lang="en-US" altLang="zh-CN" sz="1200" dirty="0"/>
              <a:t>Robot</a:t>
            </a:r>
            <a:r>
              <a:rPr lang="zh-CN" altLang="en-US" sz="1200" dirty="0"/>
              <a:t>、</a:t>
            </a:r>
            <a:r>
              <a:rPr lang="en-US" altLang="zh-CN" sz="1200" dirty="0"/>
              <a:t>AGV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Acc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：原始加速度计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X/Y/Z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W-acc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：转换到世界坐标系下的加速度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Angle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IMU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解算的姿态角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59C5FB2-7173-C71F-C0B4-F761886F705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50330" y="5984112"/>
            <a:ext cx="5335930" cy="6103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入口：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More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Features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–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IMU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calculations</a:t>
            </a:r>
          </a:p>
        </p:txBody>
      </p:sp>
      <p:pic>
        <p:nvPicPr>
          <p:cNvPr id="5" name="图片 4" descr="图形用户界面, 应用程序, Word&#10;&#10;AI 生成的内容可能不正确。">
            <a:extLst>
              <a:ext uri="{FF2B5EF4-FFF2-40B4-BE49-F238E27FC236}">
                <a16:creationId xmlns:a16="http://schemas.microsoft.com/office/drawing/2014/main" id="{77E1FCE7-9A76-6913-1371-BF354A0E7B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1" y="1581160"/>
            <a:ext cx="5588000" cy="5021592"/>
          </a:xfrm>
          <a:prstGeom prst="rect">
            <a:avLst/>
          </a:prstGeom>
        </p:spPr>
      </p:pic>
      <p:sp>
        <p:nvSpPr>
          <p:cNvPr id="8" name="AutoShape 6">
            <a:extLst>
              <a:ext uri="{FF2B5EF4-FFF2-40B4-BE49-F238E27FC236}">
                <a16:creationId xmlns:a16="http://schemas.microsoft.com/office/drawing/2014/main" id="{7164B5E5-3B77-3682-221C-34C35E0F27A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250330" y="3240912"/>
            <a:ext cx="5335930" cy="20359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Floating base parameter calculation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coordinate directions of the base(x-axis and y-axis)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基座坐标轴方向选择：定义机械臂基坐标系 </a:t>
            </a:r>
            <a:r>
              <a:rPr lang="en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X/Y 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轴，如何映射到 </a:t>
            </a:r>
            <a:r>
              <a:rPr lang="en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IMU 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本身的坐标轴（</a:t>
            </a:r>
            <a:r>
              <a:rPr lang="en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x, -x, y, -y, z, -z</a:t>
            </a:r>
            <a:r>
              <a:rPr lang="zh-CN" altLang="e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Calculation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results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200" dirty="0"/>
              <a:t>计算结果输出窗口</a:t>
            </a:r>
            <a:endParaRPr lang="en-US" altLang="zh-CN" sz="1200" dirty="0"/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Save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settings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：保存设置到控制器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Close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：关闭按钮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4026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2FCDD-639D-BC3C-3C93-3BD08E0A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7EC109F-5B89-EE4C-11A2-020ED950F5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56E00E6-3605-D6C7-01A5-05F76A6AFEC1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CCFA328-35D6-9A09-7FF0-8FC577E985A2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C94DC9E3-5EB2-91B2-C7C1-7394841F3589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、更新内容：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040701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AE111662-8D73-91C6-9988-86B81C2C94A3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5.6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 err="1"/>
              <a:t>EtherCAT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SDO</a:t>
            </a:r>
            <a:r>
              <a:rPr kumimoji="1" lang="zh-CN" altLang="en-US" sz="2400" b="1" dirty="0"/>
              <a:t>读写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6AA3C9BF-B956-F75B-B4A2-215DC665C50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8000" y="4548850"/>
            <a:ext cx="5588000" cy="17544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Read SDO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（读取</a:t>
            </a:r>
            <a:r>
              <a:rPr lang="en-US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SDO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）</a:t>
            </a:r>
            <a:endParaRPr lang="en" altLang="zh-CN" sz="1900" b="1" dirty="0">
              <a:solidFill>
                <a:srgbClr val="28A745"/>
              </a:solidFill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200" dirty="0"/>
              <a:t>用来读从站寄存器</a:t>
            </a:r>
            <a:endParaRPr lang="en-US" altLang="zh-CN" sz="1200" dirty="0"/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master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200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EtherCAT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主站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slave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：从站站号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index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：对象字典索引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subindex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：子索引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填完之后点击选择数据类型，点击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Read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按钮发送，即可在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value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区域显示读取的值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0B744D1-C7B4-605F-3E0D-80F38D9935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08000" y="6303308"/>
            <a:ext cx="11078260" cy="3903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入口：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More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Features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–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SDO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，注：电气架构图可以向售后技术服务部索取</a:t>
            </a:r>
            <a:endParaRPr lang="en-US" altLang="zh-CN" dirty="0">
              <a:solidFill>
                <a:schemeClr val="tx1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B5D33789-C35E-F3CC-6C5C-18FB57CFEA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1581160"/>
            <a:ext cx="7772400" cy="2862910"/>
          </a:xfrm>
          <a:prstGeom prst="rect">
            <a:avLst/>
          </a:prstGeom>
        </p:spPr>
      </p:pic>
      <p:sp>
        <p:nvSpPr>
          <p:cNvPr id="7" name="AutoShape 6">
            <a:extLst>
              <a:ext uri="{FF2B5EF4-FFF2-40B4-BE49-F238E27FC236}">
                <a16:creationId xmlns:a16="http://schemas.microsoft.com/office/drawing/2014/main" id="{9B12E4F9-5FE4-280B-6722-5EC22032977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01130" y="4548242"/>
            <a:ext cx="5588000" cy="17544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Write SDO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（写入</a:t>
            </a:r>
            <a:r>
              <a:rPr lang="en-US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SDO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）</a:t>
            </a:r>
            <a:endParaRPr lang="en" altLang="zh-CN" sz="1900" b="1" dirty="0">
              <a:solidFill>
                <a:srgbClr val="28A745"/>
              </a:solidFill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200" dirty="0"/>
              <a:t>用来写参数到从站寄存器</a:t>
            </a:r>
            <a:endParaRPr lang="en-US" altLang="zh-CN" sz="1200" dirty="0"/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value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：输入写入的数值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Write</a:t>
            </a:r>
            <a:r>
              <a:rPr lang="zh-CN" altLang="en-US" sz="1200" dirty="0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：下发按钮</a:t>
            </a:r>
            <a:endParaRPr lang="en-US" altLang="zh-CN" sz="1200" dirty="0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8748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23AA4-9FBD-87C4-80E9-B4CECF21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FB831C7-1031-D462-20DC-DDF1E66DE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679C59B-433E-A03D-1EC0-2F19F210A55A}"/>
              </a:ext>
            </a:extLst>
          </p:cNvPr>
          <p:cNvGrpSpPr/>
          <p:nvPr/>
        </p:nvGrpSpPr>
        <p:grpSpPr>
          <a:xfrm>
            <a:off x="0" y="0"/>
            <a:ext cx="12192000" cy="900113"/>
            <a:chOff x="0" y="-1"/>
            <a:chExt cx="12192000" cy="90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6CABBB9-50E5-5097-0DD6-8E07C276D54B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39E2FDFE-7E3F-F97F-9CA1-F1E0470E5789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05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、更新内容：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040701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09338D29-5305-1183-7C4F-F65830D7F57D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en-US" altLang="zh-CN" sz="2400" b="1" dirty="0"/>
              <a:t>5.7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Robot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Settings</a:t>
            </a:r>
            <a:r>
              <a:rPr kumimoji="1" lang="zh-CN" altLang="en-US" sz="2400" b="1" dirty="0"/>
              <a:t>机器人设置</a:t>
            </a:r>
            <a:endParaRPr kumimoji="1" lang="en-US" altLang="zh-CN" sz="2400" b="1"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E871FBE-6F6A-386C-ACAD-B2FF2A858B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96627" y="6303308"/>
            <a:ext cx="7489632" cy="3903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入口：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More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Features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–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Robot</a:t>
            </a:r>
            <a:r>
              <a:rPr lang="zh-CN" altLang="en-US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Noto Sans SC" panose="020B0200000000000000" charset="-122"/>
                <a:sym typeface="Noto Sans SC" panose="020B0200000000000000" charset="-122"/>
              </a:rPr>
              <a:t>Settings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0ED07CF2-5D9A-E333-42F7-BE1371C8BEE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96632" y="1707773"/>
            <a:ext cx="7489627" cy="9241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50000"/>
              </a:lnSpc>
              <a:defRPr/>
            </a:pP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读取</a:t>
            </a:r>
            <a:r>
              <a:rPr lang="en-US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SN</a:t>
            </a: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码</a:t>
            </a:r>
            <a:endParaRPr lang="en-US" altLang="zh-CN" sz="1200" dirty="0"/>
          </a:p>
          <a:p>
            <a:pPr>
              <a:lnSpc>
                <a:spcPct val="150000"/>
              </a:lnSpc>
              <a:defRPr/>
            </a:pPr>
            <a:r>
              <a:rPr lang="en-US" altLang="zh-CN" sz="1600" dirty="0"/>
              <a:t>SN</a:t>
            </a:r>
            <a:r>
              <a:rPr lang="zh-CN" altLang="en-US" sz="1600" dirty="0"/>
              <a:t>码可以在硬件设备上获取到，这里支持读取，若读取不到，也支持输入设置</a:t>
            </a:r>
            <a:endParaRPr lang="en-US" altLang="zh-CN" sz="1600" dirty="0"/>
          </a:p>
        </p:txBody>
      </p:sp>
      <p:pic>
        <p:nvPicPr>
          <p:cNvPr id="5" name="图片 4" descr="图形用户界面, 应用程序, 网站&#10;&#10;AI 生成的内容可能不正确。">
            <a:extLst>
              <a:ext uri="{FF2B5EF4-FFF2-40B4-BE49-F238E27FC236}">
                <a16:creationId xmlns:a16="http://schemas.microsoft.com/office/drawing/2014/main" id="{142539B4-038D-0914-3138-3264A1C986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" y="1707772"/>
            <a:ext cx="3346548" cy="4985921"/>
          </a:xfrm>
          <a:prstGeom prst="rect">
            <a:avLst/>
          </a:prstGeom>
        </p:spPr>
      </p:pic>
      <p:sp>
        <p:nvSpPr>
          <p:cNvPr id="8" name="AutoShape 6">
            <a:extLst>
              <a:ext uri="{FF2B5EF4-FFF2-40B4-BE49-F238E27FC236}">
                <a16:creationId xmlns:a16="http://schemas.microsoft.com/office/drawing/2014/main" id="{B36CD5FA-917B-F8F1-FB8F-CB2FF2DC60B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096629" y="2796203"/>
            <a:ext cx="7489627" cy="9241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50000"/>
              </a:lnSpc>
              <a:defRPr/>
            </a:pP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配置修改</a:t>
            </a:r>
            <a:r>
              <a:rPr lang="en-US" altLang="zh-CN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IP</a:t>
            </a:r>
            <a:endParaRPr lang="en-US" altLang="zh-CN" sz="1200" dirty="0"/>
          </a:p>
          <a:p>
            <a:pPr>
              <a:lnSpc>
                <a:spcPct val="150000"/>
              </a:lnSpc>
              <a:defRPr/>
            </a:pPr>
            <a:r>
              <a:rPr lang="zh-CN" altLang="en-US" sz="1600" dirty="0"/>
              <a:t>允许</a:t>
            </a:r>
            <a:r>
              <a:rPr lang="en-US" altLang="zh-CN" sz="1600" dirty="0"/>
              <a:t>IP</a:t>
            </a:r>
            <a:r>
              <a:rPr lang="zh-CN" altLang="en-US" sz="1600" dirty="0"/>
              <a:t>修改，并需要重启连接</a:t>
            </a:r>
            <a:endParaRPr lang="en-US" altLang="zh-CN" sz="1600" dirty="0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A4108C15-989C-2B91-72C1-58D56FBCE0C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096628" y="3884634"/>
            <a:ext cx="7489627" cy="9241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50000"/>
              </a:lnSpc>
              <a:defRPr/>
            </a:pP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系统时间同步</a:t>
            </a:r>
            <a:endParaRPr lang="en-US" altLang="zh-CN" sz="1900" b="1" dirty="0">
              <a:solidFill>
                <a:srgbClr val="28A745"/>
              </a:solidFill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/>
              <a:t>点击重置，可更新系统时间</a:t>
            </a:r>
            <a:endParaRPr lang="en-US" altLang="zh-CN" sz="1600" dirty="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6D989CC6-861E-821A-C2A9-1ACFDCD080B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096627" y="4973066"/>
            <a:ext cx="7489627" cy="9241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50000"/>
              </a:lnSpc>
              <a:defRPr/>
            </a:pPr>
            <a:r>
              <a:rPr lang="zh-CN" altLang="en-US" sz="1900" b="1" dirty="0">
                <a:solidFill>
                  <a:srgbClr val="28A745"/>
                </a:solidFill>
                <a:ea typeface="Noto Sans SC" panose="020B0200000000000000" charset="-122"/>
                <a:sym typeface="Noto Sans SC" panose="020B0200000000000000" charset="-122"/>
              </a:rPr>
              <a:t>系统重启</a:t>
            </a:r>
            <a:endParaRPr lang="en-US" altLang="zh-CN" sz="1900" b="1" dirty="0">
              <a:solidFill>
                <a:srgbClr val="28A745"/>
              </a:solidFill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/>
              <a:t>硬重启机器人控制器，重启会断开连接，重启完成后需要重新连接控制器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610850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9"/>
          <a:srcRect l="5882" r="5882"/>
          <a:stretch>
            <a:fillRect/>
          </a:stretch>
        </p:blipFill>
        <p:spPr>
          <a:xfrm>
            <a:off x="508000" y="1800542"/>
            <a:ext cx="4264025" cy="46482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117353" y="1624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71353" y="1827222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069853" y="1776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区域安全：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操作前务必确认机器人工作区域内没有人员或障碍物</a:t>
            </a:r>
            <a:endParaRPr lang="en-US" sz="1100" dirty="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5117353" y="2640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71353" y="2843222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069853" y="2792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低速测试：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首次运行新程序或调整参数后，务必使用低速进行测试</a:t>
            </a:r>
            <a:endParaRPr lang="en-US" sz="1100" dirty="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5117353" y="3656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371353" y="3859222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069853" y="3808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紧急停止：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任何紧急情况下，立即使用红色的物理急停按钮</a:t>
            </a:r>
            <a:endParaRPr lang="en-US" sz="1100" dirty="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5117353" y="4672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371353" y="4875222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6069853" y="4824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参数备份：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定期备份系统参数，以防数据丢失</a:t>
            </a:r>
            <a:endParaRPr lang="en-US" sz="1100" dirty="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5117353" y="5688022"/>
            <a:ext cx="6477000" cy="8636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71353" y="5891222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6069853" y="5840422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专业培训：</a:t>
            </a:r>
            <a:r>
              <a:rPr lang="en-US" sz="1300" b="0" i="0" u="none" strike="noStrike" dirty="0" err="1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操作员必须经过专业培训，熟悉操作流程和安全规范</a:t>
            </a:r>
            <a:endParaRPr lang="en-US" sz="1100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3BD8538-6399-886F-C146-20E8AF0E7F68}"/>
              </a:ext>
            </a:extLst>
          </p:cNvPr>
          <p:cNvGrpSpPr/>
          <p:nvPr/>
        </p:nvGrpSpPr>
        <p:grpSpPr>
          <a:xfrm>
            <a:off x="-16933" y="0"/>
            <a:ext cx="12192000" cy="900113"/>
            <a:chOff x="0" y="-1"/>
            <a:chExt cx="12192000" cy="90011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F999BDF-31B2-007D-7B90-C9BD27E1DB64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FD8FBC43-EDC9-068E-5477-72A7F5890DB9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安全与支持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文本框 13">
            <a:extLst>
              <a:ext uri="{FF2B5EF4-FFF2-40B4-BE49-F238E27FC236}">
                <a16:creationId xmlns:a16="http://schemas.microsoft.com/office/drawing/2014/main" id="{D96A2CB6-4A2A-6CBE-C312-40730024C9B2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zh-CN" altLang="en-US" sz="2400" b="1" dirty="0"/>
              <a:t>安全操作注意事项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>
            <a:extLst>
              <a:ext uri="{FF2B5EF4-FFF2-40B4-BE49-F238E27FC236}">
                <a16:creationId xmlns:a16="http://schemas.microsoft.com/office/drawing/2014/main" id="{A3FADACA-B5C7-9BBB-3700-38E6C3AA07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777999"/>
            <a:ext cx="5207000" cy="4543287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1590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2133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联系我们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143000" y="3175000"/>
            <a:ext cx="4445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000" y="3492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3365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技术支持热线</a:t>
            </a:r>
            <a:r>
              <a:rPr lang="en-US" sz="14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(7x24小时)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altLang="zh-CN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(0769) 22892095 - 3035</a:t>
            </a:r>
          </a:p>
        </p:txBody>
      </p:sp>
      <p:sp>
        <p:nvSpPr>
          <p:cNvPr id="9" name="AutoShape 9"/>
          <p:cNvSpPr/>
          <p:nvPr/>
        </p:nvSpPr>
        <p:spPr>
          <a:xfrm>
            <a:off x="1143000" y="4572000"/>
            <a:ext cx="4445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7000" y="4889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159000" y="4762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官方网站</a:t>
            </a:r>
            <a:r>
              <a:rPr lang="en-US" sz="1400" b="0" i="0" u="none" strike="noStrike" dirty="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 </a:t>
            </a: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知识库中心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altLang="zh-CN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</a:t>
            </a:r>
            <a:r>
              <a:rPr lang="en-US" altLang="zh-CN" sz="2000" b="1" i="0" u="none" strike="noStrike" dirty="0" err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www.tianjizn.com</a:t>
            </a:r>
            <a:endParaRPr lang="en-US" altLang="zh-CN" sz="2000" b="1" i="0" u="none" strike="noStrike" dirty="0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777999"/>
            <a:ext cx="5207000" cy="4543287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159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2133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版本信息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3175000"/>
            <a:ext cx="4445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00" y="3492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620000" y="3365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当前软件版本号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V100</a:t>
            </a:r>
            <a:r>
              <a:rPr lang="en-US" altLang="zh-CN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40701</a:t>
            </a:r>
            <a:endParaRPr lang="en-US" sz="2000" b="1" i="0" u="none" strike="noStrike" dirty="0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572000"/>
            <a:ext cx="4445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58000" y="4889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620000" y="4762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手册内容最后更新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</a:t>
            </a:r>
            <a:r>
              <a:rPr lang="en-US" altLang="zh-CN" sz="2000" b="1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r>
              <a:rPr lang="en-US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altLang="zh-CN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</a:t>
            </a:r>
            <a:r>
              <a:rPr lang="en-US" sz="2000" b="1" i="0" u="none" strike="noStrike" dirty="0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B6D9FAF-4EBE-D293-FFEE-4712F534D31C}"/>
              </a:ext>
            </a:extLst>
          </p:cNvPr>
          <p:cNvGrpSpPr/>
          <p:nvPr/>
        </p:nvGrpSpPr>
        <p:grpSpPr>
          <a:xfrm>
            <a:off x="-16933" y="0"/>
            <a:ext cx="12192000" cy="900113"/>
            <a:chOff x="0" y="-1"/>
            <a:chExt cx="12192000" cy="9001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4A23618-F6E9-018C-001D-780A5C4893D1}"/>
                </a:ext>
              </a:extLst>
            </p:cNvPr>
            <p:cNvSpPr/>
            <p:nvPr/>
          </p:nvSpPr>
          <p:spPr>
            <a:xfrm>
              <a:off x="0" y="-1"/>
              <a:ext cx="12192000" cy="9001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20204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24" name="AutoShape 3">
              <a:extLst>
                <a:ext uri="{FF2B5EF4-FFF2-40B4-BE49-F238E27FC236}">
                  <a16:creationId xmlns:a16="http://schemas.microsoft.com/office/drawing/2014/main" id="{39E15816-B748-C202-34DA-ADCB110BDF6D}"/>
                </a:ext>
              </a:extLst>
            </p:cNvPr>
            <p:cNvSpPr/>
            <p:nvPr/>
          </p:nvSpPr>
          <p:spPr>
            <a:xfrm>
              <a:off x="508000" y="164305"/>
              <a:ext cx="10922000" cy="571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indent="0"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安全与支持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文本框 13">
            <a:extLst>
              <a:ext uri="{FF2B5EF4-FFF2-40B4-BE49-F238E27FC236}">
                <a16:creationId xmlns:a16="http://schemas.microsoft.com/office/drawing/2014/main" id="{BA7DA0AE-7187-7DA6-5F96-6775382B489E}"/>
              </a:ext>
            </a:extLst>
          </p:cNvPr>
          <p:cNvSpPr txBox="1"/>
          <p:nvPr/>
        </p:nvSpPr>
        <p:spPr>
          <a:xfrm>
            <a:off x="508000" y="1119495"/>
            <a:ext cx="1092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kumimoji="1" lang="zh-CN" altLang="en-US" sz="2400" b="1" dirty="0"/>
              <a:t>技术支持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500,&quot;top&quot;:130,&quot;width&quot;:40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480,&quot;top&quot;:140,&quot;width&quot;:42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,&quot;left&quot;:60,&quot;top&quot;:120,&quot;width&quot;:41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,&quot;left&quot;:490,&quot;top&quot;:120,&quot;width&quot;:410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70,&quot;width&quot;:410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,&quot;left&quot;:490,&quot;top&quot;:140,&quot;width&quot;:410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490,&quot;top&quot;:140,&quot;width&quot;:430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,&quot;left&quot;:60,&quot;top&quot;:130,&quot;width&quot;:410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,&quot;left&quot;:390,&quot;top&quot;:140,&quot;width&quot;:51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4701</TotalTime>
  <Words>2799</Words>
  <Application>Microsoft Macintosh PowerPoint</Application>
  <PresentationFormat>宽屏</PresentationFormat>
  <Paragraphs>419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Noto Sans SC</vt:lpstr>
      <vt:lpstr>STHeiti Light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耿鑫 吴</cp:lastModifiedBy>
  <cp:revision>26</cp:revision>
  <dcterms:created xsi:type="dcterms:W3CDTF">2026-05-03T05:21:26Z</dcterms:created>
  <dcterms:modified xsi:type="dcterms:W3CDTF">2026-10-15T03:24:51Z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EB9DBE09D84E40C4B712EDE74165B05A_12</vt:lpwstr>
  </property>
</Properties>
</file>